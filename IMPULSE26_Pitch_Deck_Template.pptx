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itch Deck" id="{98B03116-DAA3-6229-9C84-15BAD7EAE285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186330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 slide. Leave as 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your team. List the team lead first and delete any unused member rows.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what you are building, who it serves and why it matters. Keep the summary to 2–3 sentences.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Describe the problem, the gaps in current solutions, and how your approach addresses them. Cite evidence where you have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Replace the generic blocks with your own components, services, data sources and integrations. Add, remove or move blocks and connectors as needed. Delete any technology-stack categories that do not apply.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the working solution do the talking. Replace the frames with screenshots, photos or outputs; describe only what has actually been implemented.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Separate what you have demonstrated from what you expect. Only report metrics you have measured, or label them clearly as projected.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how you would take the solution forward after the hackathon. Keep stages realistic and avoid committing to dates you cannot support.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PULSE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298448"/>
            <a:ext cx="11094415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455664"/>
            <a:ext cx="73152" cy="73152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4" name="Text 2"/>
          <p:cNvSpPr/>
          <p:nvPr/>
        </p:nvSpPr>
        <p:spPr>
          <a:xfrm>
            <a:off x="694944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6"/>
                </a:solidFill>
              </a:rPr>
              <a:t>IMPULSE ’26  |  AWS Student Builder Group, REVA University</a:t>
            </a:r>
            <a:endParaRPr lang="en-US" sz="1000" dirty="0"/>
          </a:p>
        </p:txBody>
      </p:sp>
      <p:sp>
        <p:nvSpPr>
          <p:cNvPr id="5" name="Text 3"/>
          <p:cNvSpPr>
            <a:spLocks noGrp="1"/>
          </p:cNvSpPr>
          <p:nvPr>
            <p:ph type="body" idx="103" hasCustomPrompt="1"/>
          </p:nvPr>
        </p:nvSpPr>
        <p:spPr>
          <a:xfrm>
            <a:off x="548640" y="384048"/>
            <a:ext cx="7315200" cy="256032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100" b="1" kern="0" spc="200" dirty="0">
                <a:solidFill>
                  <a:schemeClr val="accent2"/>
                </a:solidFill>
              </a:defRPr>
            </a:lvl1pPr>
          </a:lstStyle>
          <a:p>
            <a:pPr marL="0" indent="0" algn="l">
              <a:buNone/>
            </a:pPr>
            <a:endParaRPr lang="en-US" sz="1100" dirty="0"/>
          </a:p>
        </p:txBody>
      </p:sp>
      <p:sp>
        <p:nvSpPr>
          <p:cNvPr id="6" name="Text 3"/>
          <p:cNvSpPr>
            <a:spLocks noGrp="1"/>
          </p:cNvSpPr>
          <p:nvPr>
            <p:ph type="title" idx="104" hasCustomPrompt="1"/>
          </p:nvPr>
        </p:nvSpPr>
        <p:spPr>
          <a:xfrm>
            <a:off x="548640" y="640080"/>
            <a:ext cx="10058400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PULSE Cove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logo_aws" descr="AWS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502920"/>
            <a:ext cx="768285" cy="457200"/>
          </a:xfrm>
          <a:prstGeom prst="rect">
            <a:avLst/>
          </a:prstGeom>
        </p:spPr>
      </p:pic>
      <p:pic>
        <p:nvPicPr>
          <p:cNvPr id="4" name="logo_reva" descr="REVA University 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84256" y="475488"/>
            <a:ext cx="1658799" cy="512064"/>
          </a:xfrm>
          <a:prstGeom prst="rect">
            <a:avLst/>
          </a:prstGeom>
        </p:spPr>
      </p:pic>
      <p:sp>
        <p:nvSpPr>
          <p:cNvPr id="5" name="pixel_1"/>
          <p:cNvSpPr/>
          <p:nvPr/>
        </p:nvSpPr>
        <p:spPr>
          <a:xfrm>
            <a:off x="10424160" y="2331720"/>
            <a:ext cx="384048" cy="384048"/>
          </a:xfrm>
          <a:prstGeom prst="rect">
            <a:avLst/>
          </a:prstGeom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pixel_2"/>
          <p:cNvSpPr/>
          <p:nvPr/>
        </p:nvSpPr>
        <p:spPr>
          <a:xfrm>
            <a:off x="10881360" y="2331720"/>
            <a:ext cx="384048" cy="384048"/>
          </a:xfrm>
          <a:prstGeom prst="rect">
            <a:avLst/>
          </a:prstGeom>
          <a:solidFill>
            <a:schemeClr val="accent1">
              <a:alpha val="40000"/>
            </a:scheme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pixel_3"/>
          <p:cNvSpPr/>
          <p:nvPr/>
        </p:nvSpPr>
        <p:spPr>
          <a:xfrm>
            <a:off x="9966960" y="2788920"/>
            <a:ext cx="384048" cy="384048"/>
          </a:xfrm>
          <a:prstGeom prst="rect">
            <a:avLst/>
          </a:prstGeom>
          <a:solidFill>
            <a:schemeClr val="accent1">
              <a:alpha val="40000"/>
            </a:scheme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pixel_4"/>
          <p:cNvSpPr/>
          <p:nvPr/>
        </p:nvSpPr>
        <p:spPr>
          <a:xfrm>
            <a:off x="10881360" y="2788920"/>
            <a:ext cx="384048" cy="384048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pixel_5"/>
          <p:cNvSpPr/>
          <p:nvPr/>
        </p:nvSpPr>
        <p:spPr>
          <a:xfrm>
            <a:off x="9509760" y="3246120"/>
            <a:ext cx="384048" cy="384048"/>
          </a:xfrm>
          <a:prstGeom prst="rect">
            <a:avLst/>
          </a:prstGeom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pixel_6"/>
          <p:cNvSpPr/>
          <p:nvPr/>
        </p:nvSpPr>
        <p:spPr>
          <a:xfrm>
            <a:off x="10424160" y="3246120"/>
            <a:ext cx="384048" cy="384048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pixel_7"/>
          <p:cNvSpPr/>
          <p:nvPr/>
        </p:nvSpPr>
        <p:spPr>
          <a:xfrm>
            <a:off x="10881360" y="3246120"/>
            <a:ext cx="384048" cy="384048"/>
          </a:xfrm>
          <a:prstGeom prst="rect">
            <a:avLst/>
          </a:prstGeom>
          <a:solidFill>
            <a:schemeClr val="accent1">
              <a:alpha val="40000"/>
            </a:scheme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pixel_8"/>
          <p:cNvSpPr/>
          <p:nvPr/>
        </p:nvSpPr>
        <p:spPr>
          <a:xfrm>
            <a:off x="9052560" y="3703320"/>
            <a:ext cx="384048" cy="384048"/>
          </a:xfrm>
          <a:prstGeom prst="rect">
            <a:avLst/>
          </a:prstGeom>
          <a:solidFill>
            <a:schemeClr val="accent1">
              <a:alpha val="40000"/>
            </a:scheme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pixel_9"/>
          <p:cNvSpPr/>
          <p:nvPr/>
        </p:nvSpPr>
        <p:spPr>
          <a:xfrm>
            <a:off x="9966960" y="3703320"/>
            <a:ext cx="384048" cy="384048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pixel_10"/>
          <p:cNvSpPr/>
          <p:nvPr/>
        </p:nvSpPr>
        <p:spPr>
          <a:xfrm>
            <a:off x="10424160" y="3703320"/>
            <a:ext cx="384048" cy="384048"/>
          </a:xfrm>
          <a:prstGeom prst="rect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pixel_11"/>
          <p:cNvSpPr/>
          <p:nvPr/>
        </p:nvSpPr>
        <p:spPr>
          <a:xfrm>
            <a:off x="10881360" y="3703320"/>
            <a:ext cx="384048" cy="384048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pixel_12"/>
          <p:cNvSpPr/>
          <p:nvPr/>
        </p:nvSpPr>
        <p:spPr>
          <a:xfrm>
            <a:off x="8595360" y="4160520"/>
            <a:ext cx="384048" cy="384048"/>
          </a:xfrm>
          <a:prstGeom prst="rect">
            <a:avLst/>
          </a:prstGeom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pixel_13"/>
          <p:cNvSpPr/>
          <p:nvPr/>
        </p:nvSpPr>
        <p:spPr>
          <a:xfrm>
            <a:off x="9509760" y="4160520"/>
            <a:ext cx="384048" cy="384048"/>
          </a:xfrm>
          <a:prstGeom prst="rect">
            <a:avLst/>
          </a:prstGeom>
          <a:solidFill>
            <a:schemeClr val="accent1">
              <a:alpha val="40000"/>
            </a:scheme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pixel_14"/>
          <p:cNvSpPr/>
          <p:nvPr/>
        </p:nvSpPr>
        <p:spPr>
          <a:xfrm>
            <a:off x="9966960" y="4160520"/>
            <a:ext cx="384048" cy="384048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pixel_15"/>
          <p:cNvSpPr/>
          <p:nvPr/>
        </p:nvSpPr>
        <p:spPr>
          <a:xfrm>
            <a:off x="10881360" y="4160520"/>
            <a:ext cx="384048" cy="384048"/>
          </a:xfrm>
          <a:prstGeom prst="rect">
            <a:avLst/>
          </a:prstGeom>
          <a:solidFill>
            <a:schemeClr val="accent1">
              <a:alpha val="40000"/>
            </a:scheme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pixel_16"/>
          <p:cNvSpPr/>
          <p:nvPr/>
        </p:nvSpPr>
        <p:spPr>
          <a:xfrm>
            <a:off x="8138160" y="4617720"/>
            <a:ext cx="384048" cy="384048"/>
          </a:xfrm>
          <a:prstGeom prst="rect">
            <a:avLst/>
          </a:prstGeom>
          <a:solidFill>
            <a:schemeClr val="accent1">
              <a:alpha val="40000"/>
            </a:scheme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pixel_17"/>
          <p:cNvSpPr/>
          <p:nvPr/>
        </p:nvSpPr>
        <p:spPr>
          <a:xfrm>
            <a:off x="9052560" y="4617720"/>
            <a:ext cx="384048" cy="384048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pixel_18"/>
          <p:cNvSpPr/>
          <p:nvPr/>
        </p:nvSpPr>
        <p:spPr>
          <a:xfrm>
            <a:off x="9509760" y="4617720"/>
            <a:ext cx="384048" cy="384048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pixel_19"/>
          <p:cNvSpPr/>
          <p:nvPr/>
        </p:nvSpPr>
        <p:spPr>
          <a:xfrm>
            <a:off x="10424160" y="4617720"/>
            <a:ext cx="384048" cy="384048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pixel_20"/>
          <p:cNvSpPr/>
          <p:nvPr/>
        </p:nvSpPr>
        <p:spPr>
          <a:xfrm>
            <a:off x="10881360" y="4617720"/>
            <a:ext cx="384048" cy="384048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cover_kicker"/>
          <p:cNvSpPr txBox="1"/>
          <p:nvPr/>
        </p:nvSpPr>
        <p:spPr>
          <a:xfrm>
            <a:off x="548640" y="20574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accent2"/>
                </a:solidFill>
              </a:rPr>
              <a:t>AWS STUDENT BUILDER GROUP  ·  REVA UNIVERSITY</a:t>
            </a:r>
            <a:endParaRPr lang="en-US" sz="1200" dirty="0"/>
          </a:p>
        </p:txBody>
      </p:sp>
      <p:sp>
        <p:nvSpPr>
          <p:cNvPr id="26" name="cover_title"/>
          <p:cNvSpPr txBox="1"/>
          <p:nvPr/>
        </p:nvSpPr>
        <p:spPr>
          <a:xfrm>
            <a:off x="548640" y="2377440"/>
            <a:ext cx="7498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0" b="1" dirty="0">
                <a:solidFill>
                  <a:schemeClr val="bg1"/>
                </a:solidFill>
              </a:rPr>
              <a:t>IMPULSE </a:t>
            </a:r>
            <a:r>
              <a:rPr lang="en-US" sz="8800" b="1" dirty="0">
                <a:solidFill>
                  <a:schemeClr val="accent2"/>
                </a:solidFill>
              </a:rPr>
              <a:t>’26</a:t>
            </a:r>
            <a:endParaRPr lang="en-US" sz="8800" dirty="0"/>
          </a:p>
        </p:txBody>
      </p:sp>
      <p:sp>
        <p:nvSpPr>
          <p:cNvPr id="27" name="cover_subtitle"/>
          <p:cNvSpPr txBox="1"/>
          <p:nvPr/>
        </p:nvSpPr>
        <p:spPr>
          <a:xfrm>
            <a:off x="548640" y="3703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chemeClr val="bg1"/>
                </a:solidFill>
              </a:rPr>
              <a:t>24-Hour National-Level Hackathon</a:t>
            </a:r>
            <a:endParaRPr lang="en-US" sz="2600" dirty="0"/>
          </a:p>
        </p:txBody>
      </p:sp>
      <p:sp>
        <p:nvSpPr>
          <p:cNvPr id="28" name="cover_details"/>
          <p:cNvSpPr txBox="1"/>
          <p:nvPr/>
        </p:nvSpPr>
        <p:spPr>
          <a:xfrm>
            <a:off x="548640" y="4251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accent5"/>
                </a:solidFill>
              </a:rPr>
              <a:t>23–24 October 2026   |   Rangasthala, REVA University, Bengaluru</a:t>
            </a:r>
            <a:endParaRPr lang="en-US" sz="1600" dirty="0"/>
          </a:p>
        </p:txBody>
      </p:sp>
      <p:sp>
        <p:nvSpPr>
          <p:cNvPr id="29" name="cover_chip"/>
          <p:cNvSpPr txBox="1"/>
          <p:nvPr/>
        </p:nvSpPr>
        <p:spPr>
          <a:xfrm>
            <a:off x="548640" y="4983480"/>
            <a:ext cx="5394960" cy="411480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chemeClr val="accent2"/>
                </a:solidFill>
              </a:rPr>
              <a:t>MENTORING ROUND  ·  SOLUTION PRESENTATION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>
            <a:spLocks noGrp="1"/>
          </p:cNvSpPr>
          <p:nvPr>
            <p:ph type="body" idx="103" hasCustomPrompt="1"/>
          </p:nvPr>
        </p:nvSpPr>
        <p:spPr>
          <a:xfrm>
            <a:off x="54864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chemeClr val="accent2"/>
                </a:solidFill>
              </a:rPr>
              <a:t>02  —  TEAM</a:t>
            </a:r>
            <a:endParaRPr lang="en-US" sz="1100" dirty="0"/>
          </a:p>
        </p:txBody>
      </p:sp>
      <p:sp>
        <p:nvSpPr>
          <p:cNvPr id="3" name="Text 3"/>
          <p:cNvSpPr>
            <a:spLocks noGrp="1"/>
          </p:cNvSpPr>
          <p:nvPr>
            <p:ph type="title" idx="104" hasCustomPrompt="1"/>
          </p:nvPr>
        </p:nvSpPr>
        <p:spPr>
          <a:xfrm>
            <a:off x="548640" y="640080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Team Introduction</a:t>
            </a:r>
            <a:endParaRPr lang="en-US" sz="3000" dirty="0"/>
          </a:p>
        </p:txBody>
      </p:sp>
      <p:sp>
        <p:nvSpPr>
          <p:cNvPr id="5" name="card_Team Name_21"/>
          <p:cNvSpPr/>
          <p:nvPr/>
        </p:nvSpPr>
        <p:spPr>
          <a:xfrm>
            <a:off x="594360" y="1440180"/>
            <a:ext cx="6720840" cy="1051560"/>
          </a:xfrm>
          <a:prstGeom prst="rect">
            <a:avLst/>
          </a:prstGeom>
          <a:solidFill>
            <a:schemeClr val="bg2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6" name="marker_22"/>
          <p:cNvSpPr/>
          <p:nvPr/>
        </p:nvSpPr>
        <p:spPr>
          <a:xfrm>
            <a:off x="777240" y="1828800"/>
            <a:ext cx="91440" cy="91440"/>
          </a:xfrm>
          <a:prstGeom prst="rect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label_23"/>
          <p:cNvSpPr txBox="1"/>
          <p:nvPr/>
        </p:nvSpPr>
        <p:spPr>
          <a:xfrm>
            <a:off x="960120" y="1737360"/>
            <a:ext cx="6080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Team Name</a:t>
            </a:r>
            <a:endParaRPr lang="en-US" sz="1400" dirty="0"/>
          </a:p>
        </p:txBody>
      </p:sp>
      <p:sp>
        <p:nvSpPr>
          <p:cNvPr id="9" name="card_College / University_25"/>
          <p:cNvSpPr/>
          <p:nvPr/>
        </p:nvSpPr>
        <p:spPr>
          <a:xfrm>
            <a:off x="7498080" y="1508760"/>
            <a:ext cx="4144975" cy="1051560"/>
          </a:xfrm>
          <a:prstGeom prst="rect">
            <a:avLst/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marker_26"/>
          <p:cNvSpPr/>
          <p:nvPr/>
        </p:nvSpPr>
        <p:spPr>
          <a:xfrm>
            <a:off x="7726680" y="1828800"/>
            <a:ext cx="91440" cy="91440"/>
          </a:xfrm>
          <a:prstGeom prst="rect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label_27"/>
          <p:cNvSpPr txBox="1"/>
          <p:nvPr/>
        </p:nvSpPr>
        <p:spPr>
          <a:xfrm>
            <a:off x="7909560" y="1737360"/>
            <a:ext cx="3504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College / University</a:t>
            </a:r>
            <a:endParaRPr lang="en-US" sz="1400" dirty="0"/>
          </a:p>
        </p:txBody>
      </p:sp>
      <p:sp>
        <p:nvSpPr>
          <p:cNvPr id="12" name="content_28"/>
          <p:cNvSpPr txBox="1"/>
          <p:nvPr/>
        </p:nvSpPr>
        <p:spPr>
          <a:xfrm>
            <a:off x="7772400" y="2111518"/>
            <a:ext cx="3687775" cy="380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600" dirty="0"/>
              <a:t>REVA University</a:t>
            </a:r>
          </a:p>
        </p:txBody>
      </p:sp>
      <p:sp>
        <p:nvSpPr>
          <p:cNvPr id="13" name="marker_29"/>
          <p:cNvSpPr/>
          <p:nvPr/>
        </p:nvSpPr>
        <p:spPr>
          <a:xfrm>
            <a:off x="548640" y="2971800"/>
            <a:ext cx="91440" cy="91440"/>
          </a:xfrm>
          <a:prstGeom prst="rect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label_30"/>
          <p:cNvSpPr txBox="1"/>
          <p:nvPr/>
        </p:nvSpPr>
        <p:spPr>
          <a:xfrm>
            <a:off x="731520" y="28803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Team Members</a:t>
            </a:r>
            <a:endParaRPr lang="en-US" sz="1400" dirty="0"/>
          </a:p>
        </p:txBody>
      </p:sp>
      <p:sp>
        <p:nvSpPr>
          <p:cNvPr id="15" name="hint_31"/>
          <p:cNvSpPr txBox="1"/>
          <p:nvPr/>
        </p:nvSpPr>
        <p:spPr>
          <a:xfrm>
            <a:off x="6156655" y="2880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200" dirty="0"/>
          </a:p>
        </p:txBody>
      </p:sp>
      <p:graphicFrame>
        <p:nvGraphicFramePr>
          <p:cNvPr id="4" name="members_table_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014689"/>
              </p:ext>
            </p:extLst>
          </p:nvPr>
        </p:nvGraphicFramePr>
        <p:xfrm>
          <a:off x="548640" y="3291840"/>
          <a:ext cx="11094415" cy="2118670"/>
        </p:xfrm>
        <a:graphic>
          <a:graphicData uri="http://schemas.openxmlformats.org/drawingml/2006/table">
            <a:tbl>
              <a:tblPr/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76753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074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#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SRN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Phone Number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041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latin typeface="Arial" charset="0"/>
                          <a:ea typeface="Arial" charset="0"/>
                          <a:cs typeface="Arial" charset="0"/>
                        </a:rPr>
                        <a:t>L Vinay</a:t>
                      </a: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latin typeface="Arial" charset="0"/>
                          <a:ea typeface="Arial" charset="0"/>
                          <a:cs typeface="Arial" charset="0"/>
                        </a:rPr>
                        <a:t>R24EA177</a:t>
                      </a: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i="0" dirty="0">
                          <a:latin typeface="Arial" charset="0"/>
                          <a:ea typeface="Arial" charset="0"/>
                          <a:cs typeface="Arial" charset="0"/>
                        </a:rPr>
                        <a:t>AIML</a:t>
                      </a: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i="1" dirty="0">
                          <a:solidFill>
                            <a:schemeClr val="accent4"/>
                          </a:solidFill>
                          <a:latin typeface="Arial" pitchFamily="34" charset="0"/>
                          <a:ea typeface="Arial" charset="0"/>
                          <a:cs typeface="Arial" pitchFamily="34" charset="-120"/>
                        </a:rPr>
                        <a:t>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i="1" dirty="0">
                          <a:solidFill>
                            <a:schemeClr val="accent4"/>
                          </a:solidFill>
                          <a:latin typeface="Arial" pitchFamily="34" charset="0"/>
                          <a:ea typeface="Arial" charset="0"/>
                          <a:cs typeface="Arial" pitchFamily="34" charset="-120"/>
                        </a:rPr>
                        <a:t>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latin typeface="Arial" charset="0"/>
                          <a:ea typeface="Arial" charset="0"/>
                          <a:cs typeface="Arial" charset="0"/>
                        </a:rPr>
                        <a:t>7676117596</a:t>
                      </a: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041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02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latin typeface="Arial" charset="0"/>
                          <a:ea typeface="Arial" charset="0"/>
                          <a:cs typeface="Arial" charset="0"/>
                        </a:rPr>
                        <a:t>B. </a:t>
                      </a:r>
                      <a:r>
                        <a:rPr lang="en-US" sz="1300" dirty="0" err="1">
                          <a:latin typeface="Arial" charset="0"/>
                          <a:ea typeface="Arial" charset="0"/>
                          <a:cs typeface="Arial" charset="0"/>
                        </a:rPr>
                        <a:t>HarshaVardhan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0" i="0" dirty="0">
                          <a:latin typeface="Arial" charset="0"/>
                          <a:ea typeface="Arial" charset="0"/>
                          <a:cs typeface="Arial" charset="0"/>
                        </a:rPr>
                        <a:t>R24EJ021</a:t>
                      </a: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latin typeface="Arial" charset="0"/>
                          <a:ea typeface="Arial" charset="0"/>
                          <a:cs typeface="Arial" charset="0"/>
                        </a:rPr>
                        <a:t>CSIT</a:t>
                      </a: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i="1" dirty="0">
                          <a:solidFill>
                            <a:schemeClr val="accent4"/>
                          </a:solidFill>
                          <a:latin typeface="Arial" pitchFamily="34" charset="0"/>
                          <a:ea typeface="Arial" charset="0"/>
                          <a:cs typeface="Arial" pitchFamily="34" charset="-120"/>
                        </a:rPr>
                        <a:t>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i="1" dirty="0">
                          <a:solidFill>
                            <a:schemeClr val="accent4"/>
                          </a:solidFill>
                          <a:latin typeface="Arial" pitchFamily="34" charset="0"/>
                          <a:ea typeface="Arial" charset="0"/>
                          <a:cs typeface="Arial" pitchFamily="34" charset="-120"/>
                        </a:rPr>
                        <a:t>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latin typeface="Arial" charset="0"/>
                          <a:ea typeface="Arial" charset="0"/>
                          <a:cs typeface="Arial" charset="0"/>
                        </a:rPr>
                        <a:t>7019114579</a:t>
                      </a: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041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latin typeface="Arial" charset="0"/>
                          <a:ea typeface="Arial" charset="0"/>
                          <a:cs typeface="Arial" charset="0"/>
                        </a:rPr>
                        <a:t>Bindu Singh M</a:t>
                      </a: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latin typeface="Arial" charset="0"/>
                          <a:ea typeface="Arial" charset="0"/>
                          <a:cs typeface="Arial" charset="0"/>
                        </a:rPr>
                        <a:t>R24EJ024</a:t>
                      </a: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latin typeface="Arial" charset="0"/>
                          <a:ea typeface="Arial" charset="0"/>
                          <a:cs typeface="Arial" charset="0"/>
                        </a:rPr>
                        <a:t>CSIT</a:t>
                      </a: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latin typeface="Arial" charset="0"/>
                          <a:ea typeface="Arial" charset="0"/>
                          <a:cs typeface="Arial" charset="0"/>
                        </a:rPr>
                        <a:t>5</a:t>
                      </a: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latin typeface="Arial" charset="0"/>
                          <a:ea typeface="Arial" charset="0"/>
                          <a:cs typeface="Arial" charset="0"/>
                        </a:rPr>
                        <a:t>3</a:t>
                      </a: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latin typeface="Arial" charset="0"/>
                          <a:ea typeface="Arial" charset="0"/>
                          <a:cs typeface="Arial" charset="0"/>
                        </a:rPr>
                        <a:t>9945641421</a:t>
                      </a: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6F5E255-9DE7-B0CA-94E5-6D93C8A47274}"/>
              </a:ext>
            </a:extLst>
          </p:cNvPr>
          <p:cNvSpPr txBox="1"/>
          <p:nvPr/>
        </p:nvSpPr>
        <p:spPr>
          <a:xfrm>
            <a:off x="868680" y="2043645"/>
            <a:ext cx="21647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Team THOR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>
            <a:spLocks noGrp="1"/>
          </p:cNvSpPr>
          <p:nvPr>
            <p:ph type="body" idx="103" hasCustomPrompt="1"/>
          </p:nvPr>
        </p:nvSpPr>
        <p:spPr>
          <a:xfrm>
            <a:off x="54864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chemeClr val="accent2"/>
                </a:solidFill>
              </a:rPr>
              <a:t>03  —  SOLUTION</a:t>
            </a:r>
            <a:endParaRPr lang="en-US" sz="1100" dirty="0"/>
          </a:p>
        </p:txBody>
      </p:sp>
      <p:sp>
        <p:nvSpPr>
          <p:cNvPr id="3" name="Text 3"/>
          <p:cNvSpPr>
            <a:spLocks noGrp="1"/>
          </p:cNvSpPr>
          <p:nvPr>
            <p:ph type="title" idx="104" hasCustomPrompt="1"/>
          </p:nvPr>
        </p:nvSpPr>
        <p:spPr>
          <a:xfrm>
            <a:off x="548640" y="640080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Solution Overview</a:t>
            </a:r>
            <a:endParaRPr lang="en-US" sz="3000" dirty="0"/>
          </a:p>
        </p:txBody>
      </p:sp>
      <p:sp>
        <p:nvSpPr>
          <p:cNvPr id="5" name="card_Solution Summary_33"/>
          <p:cNvSpPr/>
          <p:nvPr/>
        </p:nvSpPr>
        <p:spPr>
          <a:xfrm>
            <a:off x="548640" y="1508760"/>
            <a:ext cx="6720840" cy="2514600"/>
          </a:xfrm>
          <a:prstGeom prst="rect">
            <a:avLst/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marker_34"/>
          <p:cNvSpPr/>
          <p:nvPr/>
        </p:nvSpPr>
        <p:spPr>
          <a:xfrm>
            <a:off x="822960" y="1874520"/>
            <a:ext cx="91440" cy="91440"/>
          </a:xfrm>
          <a:prstGeom prst="rect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label_35"/>
          <p:cNvSpPr txBox="1"/>
          <p:nvPr/>
        </p:nvSpPr>
        <p:spPr>
          <a:xfrm>
            <a:off x="1005840" y="1783080"/>
            <a:ext cx="5989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Solution Summary</a:t>
            </a:r>
            <a:endParaRPr lang="en-US" sz="1400" dirty="0"/>
          </a:p>
        </p:txBody>
      </p:sp>
      <p:sp>
        <p:nvSpPr>
          <p:cNvPr id="8" name="content_36"/>
          <p:cNvSpPr txBox="1"/>
          <p:nvPr/>
        </p:nvSpPr>
        <p:spPr>
          <a:xfrm>
            <a:off x="1120140" y="2263140"/>
            <a:ext cx="6172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endParaRPr lang="en-US" sz="1600" dirty="0"/>
          </a:p>
        </p:txBody>
      </p:sp>
      <p:sp>
        <p:nvSpPr>
          <p:cNvPr id="9" name="marker_37"/>
          <p:cNvSpPr/>
          <p:nvPr/>
        </p:nvSpPr>
        <p:spPr>
          <a:xfrm>
            <a:off x="548640" y="4389120"/>
            <a:ext cx="91440" cy="91440"/>
          </a:xfrm>
          <a:prstGeom prst="rect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label_38"/>
          <p:cNvSpPr txBox="1"/>
          <p:nvPr/>
        </p:nvSpPr>
        <p:spPr>
          <a:xfrm>
            <a:off x="731520" y="42976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Key Features</a:t>
            </a:r>
            <a:endParaRPr lang="en-US" sz="1400" dirty="0"/>
          </a:p>
        </p:txBody>
      </p:sp>
      <p:sp>
        <p:nvSpPr>
          <p:cNvPr id="11" name="feature_39"/>
          <p:cNvSpPr/>
          <p:nvPr/>
        </p:nvSpPr>
        <p:spPr>
          <a:xfrm>
            <a:off x="548640" y="4709160"/>
            <a:ext cx="2087880" cy="137160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featnum_40"/>
          <p:cNvSpPr txBox="1"/>
          <p:nvPr/>
        </p:nvSpPr>
        <p:spPr>
          <a:xfrm>
            <a:off x="749808" y="489204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01</a:t>
            </a:r>
            <a:endParaRPr lang="en-US" sz="1600" dirty="0"/>
          </a:p>
        </p:txBody>
      </p:sp>
      <p:sp>
        <p:nvSpPr>
          <p:cNvPr id="13" name="feattext_41"/>
          <p:cNvSpPr txBox="1"/>
          <p:nvPr/>
        </p:nvSpPr>
        <p:spPr>
          <a:xfrm>
            <a:off x="749808" y="5257800"/>
            <a:ext cx="16855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chemeClr val="accent4"/>
                </a:solidFill>
              </a:rPr>
              <a:t>[Feature 1]</a:t>
            </a:r>
            <a:endParaRPr lang="en-US" sz="1400" dirty="0"/>
          </a:p>
        </p:txBody>
      </p:sp>
      <p:sp>
        <p:nvSpPr>
          <p:cNvPr id="14" name="feature_42"/>
          <p:cNvSpPr/>
          <p:nvPr/>
        </p:nvSpPr>
        <p:spPr>
          <a:xfrm>
            <a:off x="2865120" y="4709160"/>
            <a:ext cx="2087880" cy="137160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featnum_43"/>
          <p:cNvSpPr txBox="1"/>
          <p:nvPr/>
        </p:nvSpPr>
        <p:spPr>
          <a:xfrm>
            <a:off x="3066288" y="489204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02</a:t>
            </a:r>
            <a:endParaRPr lang="en-US" sz="1600" dirty="0"/>
          </a:p>
        </p:txBody>
      </p:sp>
      <p:sp>
        <p:nvSpPr>
          <p:cNvPr id="16" name="feattext_44"/>
          <p:cNvSpPr txBox="1"/>
          <p:nvPr/>
        </p:nvSpPr>
        <p:spPr>
          <a:xfrm>
            <a:off x="3066288" y="5257800"/>
            <a:ext cx="16855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chemeClr val="accent4"/>
                </a:solidFill>
              </a:rPr>
              <a:t>[Feature 2]</a:t>
            </a:r>
            <a:endParaRPr lang="en-US" sz="1400" dirty="0"/>
          </a:p>
        </p:txBody>
      </p:sp>
      <p:sp>
        <p:nvSpPr>
          <p:cNvPr id="17" name="feature_45"/>
          <p:cNvSpPr/>
          <p:nvPr/>
        </p:nvSpPr>
        <p:spPr>
          <a:xfrm>
            <a:off x="5181600" y="4709160"/>
            <a:ext cx="2087880" cy="137160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featnum_46"/>
          <p:cNvSpPr txBox="1"/>
          <p:nvPr/>
        </p:nvSpPr>
        <p:spPr>
          <a:xfrm>
            <a:off x="5382768" y="489204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03</a:t>
            </a:r>
            <a:endParaRPr lang="en-US" sz="1600" dirty="0"/>
          </a:p>
        </p:txBody>
      </p:sp>
      <p:sp>
        <p:nvSpPr>
          <p:cNvPr id="19" name="feattext_47"/>
          <p:cNvSpPr txBox="1"/>
          <p:nvPr/>
        </p:nvSpPr>
        <p:spPr>
          <a:xfrm>
            <a:off x="5382768" y="5257800"/>
            <a:ext cx="16855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chemeClr val="accent4"/>
                </a:solidFill>
              </a:rPr>
              <a:t>[Feature 3]</a:t>
            </a:r>
            <a:endParaRPr lang="en-US" sz="1400" dirty="0"/>
          </a:p>
        </p:txBody>
      </p:sp>
      <p:sp>
        <p:nvSpPr>
          <p:cNvPr id="20" name="card_Core Value Proposition_48"/>
          <p:cNvSpPr/>
          <p:nvPr/>
        </p:nvSpPr>
        <p:spPr>
          <a:xfrm>
            <a:off x="7498080" y="1508760"/>
            <a:ext cx="4144975" cy="2514600"/>
          </a:xfrm>
          <a:prstGeom prst="rect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marker_49"/>
          <p:cNvSpPr/>
          <p:nvPr/>
        </p:nvSpPr>
        <p:spPr>
          <a:xfrm>
            <a:off x="7772400" y="1874520"/>
            <a:ext cx="91440" cy="91440"/>
          </a:xfrm>
          <a:prstGeom prst="rect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label_50"/>
          <p:cNvSpPr txBox="1"/>
          <p:nvPr/>
        </p:nvSpPr>
        <p:spPr>
          <a:xfrm>
            <a:off x="7955280" y="1783080"/>
            <a:ext cx="34134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Core Value Proposition</a:t>
            </a:r>
            <a:endParaRPr lang="en-US" sz="1400" dirty="0"/>
          </a:p>
        </p:txBody>
      </p:sp>
      <p:sp>
        <p:nvSpPr>
          <p:cNvPr id="23" name="content_51"/>
          <p:cNvSpPr txBox="1"/>
          <p:nvPr/>
        </p:nvSpPr>
        <p:spPr>
          <a:xfrm>
            <a:off x="7772400" y="2194560"/>
            <a:ext cx="359633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600" i="1" dirty="0">
                <a:solidFill>
                  <a:schemeClr val="accent5"/>
                </a:solidFill>
              </a:rPr>
              <a:t>[State the primary benefit or differentiator]</a:t>
            </a:r>
            <a:endParaRPr lang="en-US" sz="1600" dirty="0"/>
          </a:p>
        </p:txBody>
      </p:sp>
      <p:sp>
        <p:nvSpPr>
          <p:cNvPr id="24" name="card_Target Users_52"/>
          <p:cNvSpPr/>
          <p:nvPr/>
        </p:nvSpPr>
        <p:spPr>
          <a:xfrm>
            <a:off x="7498080" y="4297680"/>
            <a:ext cx="4144975" cy="1783080"/>
          </a:xfrm>
          <a:prstGeom prst="rect">
            <a:avLst/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marker_53"/>
          <p:cNvSpPr/>
          <p:nvPr/>
        </p:nvSpPr>
        <p:spPr>
          <a:xfrm>
            <a:off x="7772400" y="4663440"/>
            <a:ext cx="91440" cy="91440"/>
          </a:xfrm>
          <a:prstGeom prst="rect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label_54"/>
          <p:cNvSpPr txBox="1"/>
          <p:nvPr/>
        </p:nvSpPr>
        <p:spPr>
          <a:xfrm>
            <a:off x="7955280" y="4572000"/>
            <a:ext cx="34134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Target Users</a:t>
            </a:r>
            <a:endParaRPr lang="en-US" sz="1400" dirty="0"/>
          </a:p>
        </p:txBody>
      </p:sp>
      <p:sp>
        <p:nvSpPr>
          <p:cNvPr id="27" name="content_55"/>
          <p:cNvSpPr txBox="1"/>
          <p:nvPr/>
        </p:nvSpPr>
        <p:spPr>
          <a:xfrm>
            <a:off x="7772400" y="4983480"/>
            <a:ext cx="35963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i="1" dirty="0">
                <a:solidFill>
                  <a:schemeClr val="accent4"/>
                </a:solidFill>
              </a:rPr>
              <a:t>[Add intended users or beneficiaries]</a:t>
            </a:r>
            <a:endParaRPr lang="en-US" sz="1400" dirty="0"/>
          </a:p>
        </p:txBody>
      </p:sp>
      <p:sp>
        <p:nvSpPr>
          <p:cNvPr id="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>
            <a:spLocks noGrp="1"/>
          </p:cNvSpPr>
          <p:nvPr>
            <p:ph type="body" idx="103" hasCustomPrompt="1"/>
          </p:nvPr>
        </p:nvSpPr>
        <p:spPr>
          <a:xfrm>
            <a:off x="54864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chemeClr val="accent2"/>
                </a:solidFill>
              </a:rPr>
              <a:t>04  —  PROBLEM</a:t>
            </a:r>
            <a:endParaRPr lang="en-US" sz="1100" dirty="0"/>
          </a:p>
        </p:txBody>
      </p:sp>
      <p:sp>
        <p:nvSpPr>
          <p:cNvPr id="3" name="Text 3"/>
          <p:cNvSpPr>
            <a:spLocks noGrp="1"/>
          </p:cNvSpPr>
          <p:nvPr>
            <p:ph type="title" idx="104" hasCustomPrompt="1"/>
          </p:nvPr>
        </p:nvSpPr>
        <p:spPr>
          <a:xfrm>
            <a:off x="548640" y="640080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Problem Validation &amp; Approach</a:t>
            </a:r>
            <a:endParaRPr lang="en-US" sz="3000" dirty="0"/>
          </a:p>
        </p:txBody>
      </p:sp>
      <p:sp>
        <p:nvSpPr>
          <p:cNvPr id="5" name="zone_56"/>
          <p:cNvSpPr txBox="1"/>
          <p:nvPr/>
        </p:nvSpPr>
        <p:spPr>
          <a:xfrm>
            <a:off x="548640" y="150876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chemeClr val="accent4"/>
                </a:solidFill>
              </a:rPr>
              <a:t>EXISTING GAP</a:t>
            </a:r>
            <a:endParaRPr lang="en-US" sz="1000" dirty="0"/>
          </a:p>
        </p:txBody>
      </p:sp>
      <p:sp>
        <p:nvSpPr>
          <p:cNvPr id="6" name="zone_57"/>
          <p:cNvSpPr txBox="1"/>
          <p:nvPr/>
        </p:nvSpPr>
        <p:spPr>
          <a:xfrm>
            <a:off x="6522415" y="150876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chemeClr val="accent1"/>
                </a:solidFill>
              </a:rPr>
              <a:t>PROPOSED APPROACH</a:t>
            </a:r>
            <a:endParaRPr lang="en-US" sz="1000" dirty="0"/>
          </a:p>
        </p:txBody>
      </p:sp>
      <p:sp>
        <p:nvSpPr>
          <p:cNvPr id="7" name="card_Problem Context_58"/>
          <p:cNvSpPr/>
          <p:nvPr/>
        </p:nvSpPr>
        <p:spPr>
          <a:xfrm>
            <a:off x="548640" y="1874520"/>
            <a:ext cx="5120640" cy="2331720"/>
          </a:xfrm>
          <a:prstGeom prst="rect">
            <a:avLst/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marker_59"/>
          <p:cNvSpPr/>
          <p:nvPr/>
        </p:nvSpPr>
        <p:spPr>
          <a:xfrm>
            <a:off x="822960" y="2240280"/>
            <a:ext cx="91440" cy="91440"/>
          </a:xfrm>
          <a:prstGeom prst="rect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label_60"/>
          <p:cNvSpPr txBox="1"/>
          <p:nvPr/>
        </p:nvSpPr>
        <p:spPr>
          <a:xfrm>
            <a:off x="1005840" y="214884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Problem Context</a:t>
            </a:r>
            <a:endParaRPr lang="en-US" sz="1400" dirty="0"/>
          </a:p>
        </p:txBody>
      </p:sp>
      <p:sp>
        <p:nvSpPr>
          <p:cNvPr id="10" name="content_61"/>
          <p:cNvSpPr txBox="1"/>
          <p:nvPr/>
        </p:nvSpPr>
        <p:spPr>
          <a:xfrm>
            <a:off x="822960" y="2560320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i="1" dirty="0">
                <a:solidFill>
                  <a:schemeClr val="accent4"/>
                </a:solidFill>
              </a:rPr>
              <a:t>[Describe the key problem, its causes and relevant context]</a:t>
            </a:r>
            <a:endParaRPr lang="en-US" sz="1400" dirty="0"/>
          </a:p>
        </p:txBody>
      </p:sp>
      <p:sp>
        <p:nvSpPr>
          <p:cNvPr id="11" name="card_Current Limitations_62"/>
          <p:cNvSpPr/>
          <p:nvPr/>
        </p:nvSpPr>
        <p:spPr>
          <a:xfrm>
            <a:off x="548640" y="4434840"/>
            <a:ext cx="5120640" cy="1645920"/>
          </a:xfrm>
          <a:prstGeom prst="rect">
            <a:avLst/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marker_63"/>
          <p:cNvSpPr/>
          <p:nvPr/>
        </p:nvSpPr>
        <p:spPr>
          <a:xfrm>
            <a:off x="822960" y="4800600"/>
            <a:ext cx="91440" cy="91440"/>
          </a:xfrm>
          <a:prstGeom prst="rect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label_64"/>
          <p:cNvSpPr txBox="1"/>
          <p:nvPr/>
        </p:nvSpPr>
        <p:spPr>
          <a:xfrm>
            <a:off x="1005840" y="470916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Current Limitations</a:t>
            </a:r>
            <a:endParaRPr lang="en-US" sz="1400" dirty="0"/>
          </a:p>
        </p:txBody>
      </p:sp>
      <p:sp>
        <p:nvSpPr>
          <p:cNvPr id="14" name="content_65"/>
          <p:cNvSpPr txBox="1"/>
          <p:nvPr/>
        </p:nvSpPr>
        <p:spPr>
          <a:xfrm>
            <a:off x="822960" y="512064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i="1" dirty="0">
                <a:solidFill>
                  <a:schemeClr val="accent4"/>
                </a:solidFill>
              </a:rPr>
              <a:t>[List existing gaps, inefficiencies or shortcomings]</a:t>
            </a:r>
            <a:endParaRPr lang="en-US" sz="1400" dirty="0"/>
          </a:p>
        </p:txBody>
      </p:sp>
      <p:sp>
        <p:nvSpPr>
          <p:cNvPr id="15" name="arrow_circle_66"/>
          <p:cNvSpPr/>
          <p:nvPr/>
        </p:nvSpPr>
        <p:spPr>
          <a:xfrm>
            <a:off x="5812384" y="3694176"/>
            <a:ext cx="566928" cy="566928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arrow_67"/>
          <p:cNvSpPr/>
          <p:nvPr/>
        </p:nvSpPr>
        <p:spPr>
          <a:xfrm>
            <a:off x="5940400" y="3858768"/>
            <a:ext cx="310896" cy="237744"/>
          </a:xfrm>
          <a:prstGeom prst="rightArrow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card_Proposed Approach_68"/>
          <p:cNvSpPr/>
          <p:nvPr/>
        </p:nvSpPr>
        <p:spPr>
          <a:xfrm>
            <a:off x="6522415" y="1874520"/>
            <a:ext cx="5120640" cy="4206240"/>
          </a:xfrm>
          <a:prstGeom prst="rect">
            <a:avLst/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marker_69"/>
          <p:cNvSpPr/>
          <p:nvPr/>
        </p:nvSpPr>
        <p:spPr>
          <a:xfrm>
            <a:off x="6796735" y="2240280"/>
            <a:ext cx="91440" cy="91440"/>
          </a:xfrm>
          <a:prstGeom prst="rect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label_70"/>
          <p:cNvSpPr txBox="1"/>
          <p:nvPr/>
        </p:nvSpPr>
        <p:spPr>
          <a:xfrm>
            <a:off x="6979615" y="214884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Proposed Approach</a:t>
            </a:r>
            <a:endParaRPr lang="en-US" sz="1400" dirty="0"/>
          </a:p>
        </p:txBody>
      </p:sp>
      <p:sp>
        <p:nvSpPr>
          <p:cNvPr id="20" name="content_71"/>
          <p:cNvSpPr txBox="1"/>
          <p:nvPr/>
        </p:nvSpPr>
        <p:spPr>
          <a:xfrm>
            <a:off x="6796735" y="2560320"/>
            <a:ext cx="457200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i="1" dirty="0">
                <a:solidFill>
                  <a:schemeClr val="accent4"/>
                </a:solidFill>
              </a:rPr>
              <a:t>[Explain how your solution addresses the problem]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i="1" dirty="0">
                <a:solidFill>
                  <a:schemeClr val="accent4"/>
                </a:solidFill>
              </a:rPr>
              <a:t>[Approach point 1]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i="1" dirty="0">
                <a:solidFill>
                  <a:schemeClr val="accent4"/>
                </a:solidFill>
              </a:rPr>
              <a:t>[Approach point 2]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i="1" dirty="0">
                <a:solidFill>
                  <a:schemeClr val="accent4"/>
                </a:solidFill>
              </a:rPr>
              <a:t>[Approach point 3]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>
            <a:spLocks noGrp="1"/>
          </p:cNvSpPr>
          <p:nvPr>
            <p:ph type="body" idx="103" hasCustomPrompt="1"/>
          </p:nvPr>
        </p:nvSpPr>
        <p:spPr>
          <a:xfrm>
            <a:off x="54864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chemeClr val="accent2"/>
                </a:solidFill>
              </a:rPr>
              <a:t>05  —  ARCHITECTURE</a:t>
            </a:r>
            <a:endParaRPr lang="en-US" sz="1100" dirty="0"/>
          </a:p>
        </p:txBody>
      </p:sp>
      <p:sp>
        <p:nvSpPr>
          <p:cNvPr id="3" name="Text 3"/>
          <p:cNvSpPr>
            <a:spLocks noGrp="1"/>
          </p:cNvSpPr>
          <p:nvPr>
            <p:ph type="title" idx="104" hasCustomPrompt="1"/>
          </p:nvPr>
        </p:nvSpPr>
        <p:spPr>
          <a:xfrm>
            <a:off x="548640" y="640080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Technical Architecture</a:t>
            </a:r>
            <a:endParaRPr lang="en-US" sz="3000" dirty="0"/>
          </a:p>
        </p:txBody>
      </p:sp>
      <p:sp>
        <p:nvSpPr>
          <p:cNvPr id="5" name="canvas_72"/>
          <p:cNvSpPr/>
          <p:nvPr/>
        </p:nvSpPr>
        <p:spPr>
          <a:xfrm>
            <a:off x="548640" y="1508760"/>
            <a:ext cx="11094415" cy="329184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5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6" name="marker_73"/>
          <p:cNvSpPr/>
          <p:nvPr/>
        </p:nvSpPr>
        <p:spPr>
          <a:xfrm>
            <a:off x="777240" y="1783080"/>
            <a:ext cx="91440" cy="91440"/>
          </a:xfrm>
          <a:prstGeom prst="rect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label_74"/>
          <p:cNvSpPr txBox="1"/>
          <p:nvPr/>
        </p:nvSpPr>
        <p:spPr>
          <a:xfrm>
            <a:off x="960120" y="1691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Architecture Diagram</a:t>
            </a:r>
            <a:endParaRPr lang="en-US" sz="1400" dirty="0"/>
          </a:p>
        </p:txBody>
      </p:sp>
      <p:sp>
        <p:nvSpPr>
          <p:cNvPr id="8" name="hint_75"/>
          <p:cNvSpPr txBox="1"/>
          <p:nvPr/>
        </p:nvSpPr>
        <p:spPr>
          <a:xfrm>
            <a:off x="5928055" y="1691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i="1" dirty="0">
                <a:solidFill>
                  <a:schemeClr val="accent4"/>
                </a:solidFill>
              </a:rPr>
              <a:t>[Edit blocks and connectors to show your system and data flow]</a:t>
            </a:r>
            <a:endParaRPr lang="en-US" sz="1200" dirty="0"/>
          </a:p>
        </p:txBody>
      </p:sp>
      <p:sp>
        <p:nvSpPr>
          <p:cNvPr id="9" name="block_76"/>
          <p:cNvSpPr/>
          <p:nvPr/>
        </p:nvSpPr>
        <p:spPr>
          <a:xfrm>
            <a:off x="1280160" y="2240280"/>
            <a:ext cx="2377440" cy="868680"/>
          </a:xfrm>
          <a:prstGeom prst="roundRect">
            <a:avLst>
              <a:gd name="adj" fmla="val 6316"/>
            </a:avLst>
          </a:prstGeom>
          <a:solidFill>
            <a:schemeClr val="bg1"/>
          </a:solidFill>
          <a:ln w="12700">
            <a:solidFill>
              <a:schemeClr val="accent5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chemeClr val="accent4"/>
                </a:solidFill>
              </a:rPr>
              <a:t>[Component]</a:t>
            </a:r>
            <a:endParaRPr lang="en-US" sz="1300" dirty="0"/>
          </a:p>
        </p:txBody>
      </p:sp>
      <p:sp>
        <p:nvSpPr>
          <p:cNvPr id="10" name="block_77"/>
          <p:cNvSpPr/>
          <p:nvPr/>
        </p:nvSpPr>
        <p:spPr>
          <a:xfrm>
            <a:off x="1280160" y="3520440"/>
            <a:ext cx="2377440" cy="868680"/>
          </a:xfrm>
          <a:prstGeom prst="roundRect">
            <a:avLst>
              <a:gd name="adj" fmla="val 6316"/>
            </a:avLst>
          </a:prstGeom>
          <a:solidFill>
            <a:schemeClr val="bg1"/>
          </a:solidFill>
          <a:ln w="12700">
            <a:solidFill>
              <a:schemeClr val="accent5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chemeClr val="accent4"/>
                </a:solidFill>
              </a:rPr>
              <a:t>[Component]</a:t>
            </a:r>
            <a:endParaRPr lang="en-US" sz="1300" dirty="0"/>
          </a:p>
        </p:txBody>
      </p:sp>
      <p:sp>
        <p:nvSpPr>
          <p:cNvPr id="11" name="block_78"/>
          <p:cNvSpPr/>
          <p:nvPr/>
        </p:nvSpPr>
        <p:spPr>
          <a:xfrm>
            <a:off x="4907128" y="2240280"/>
            <a:ext cx="2377440" cy="2148840"/>
          </a:xfrm>
          <a:prstGeom prst="roundRect">
            <a:avLst>
              <a:gd name="adj" fmla="val 2553"/>
            </a:avLst>
          </a:prstGeom>
          <a:solidFill>
            <a:schemeClr val="bg2"/>
          </a:solidFill>
          <a:ln w="19050">
            <a:solidFill>
              <a:schemeClr val="accent1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chemeClr val="tx2"/>
                </a:solidFill>
              </a:rPr>
              <a:t>[Core component]</a:t>
            </a:r>
            <a:endParaRPr lang="en-US" sz="1300" dirty="0"/>
          </a:p>
        </p:txBody>
      </p:sp>
      <p:sp>
        <p:nvSpPr>
          <p:cNvPr id="12" name="block_79"/>
          <p:cNvSpPr/>
          <p:nvPr/>
        </p:nvSpPr>
        <p:spPr>
          <a:xfrm>
            <a:off x="8534095" y="2240280"/>
            <a:ext cx="2377440" cy="868680"/>
          </a:xfrm>
          <a:prstGeom prst="roundRect">
            <a:avLst>
              <a:gd name="adj" fmla="val 6316"/>
            </a:avLst>
          </a:prstGeom>
          <a:solidFill>
            <a:schemeClr val="bg1"/>
          </a:solidFill>
          <a:ln w="12700">
            <a:solidFill>
              <a:schemeClr val="accent5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chemeClr val="accent4"/>
                </a:solidFill>
              </a:rPr>
              <a:t>[Component]</a:t>
            </a:r>
            <a:endParaRPr lang="en-US" sz="1300" dirty="0"/>
          </a:p>
        </p:txBody>
      </p:sp>
      <p:sp>
        <p:nvSpPr>
          <p:cNvPr id="13" name="block_80"/>
          <p:cNvSpPr/>
          <p:nvPr/>
        </p:nvSpPr>
        <p:spPr>
          <a:xfrm>
            <a:off x="8534095" y="3520440"/>
            <a:ext cx="2377440" cy="868680"/>
          </a:xfrm>
          <a:prstGeom prst="roundRect">
            <a:avLst>
              <a:gd name="adj" fmla="val 6316"/>
            </a:avLst>
          </a:prstGeom>
          <a:solidFill>
            <a:schemeClr val="bg1"/>
          </a:solidFill>
          <a:ln w="12700">
            <a:solidFill>
              <a:schemeClr val="accent5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chemeClr val="accent4"/>
                </a:solidFill>
              </a:rPr>
              <a:t>[Component]</a:t>
            </a:r>
            <a:endParaRPr lang="en-US" sz="1300" dirty="0"/>
          </a:p>
        </p:txBody>
      </p:sp>
      <p:sp>
        <p:nvSpPr>
          <p:cNvPr id="14" name="connector_81"/>
          <p:cNvSpPr/>
          <p:nvPr/>
        </p:nvSpPr>
        <p:spPr>
          <a:xfrm>
            <a:off x="3749040" y="2674620"/>
            <a:ext cx="1066648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5" name="connector_82"/>
          <p:cNvSpPr/>
          <p:nvPr/>
        </p:nvSpPr>
        <p:spPr>
          <a:xfrm>
            <a:off x="7376008" y="2674620"/>
            <a:ext cx="1066648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6" name="connector_83"/>
          <p:cNvSpPr/>
          <p:nvPr/>
        </p:nvSpPr>
        <p:spPr>
          <a:xfrm>
            <a:off x="3749040" y="3954780"/>
            <a:ext cx="1066648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7" name="connector_84"/>
          <p:cNvSpPr/>
          <p:nvPr/>
        </p:nvSpPr>
        <p:spPr>
          <a:xfrm>
            <a:off x="7376008" y="3954780"/>
            <a:ext cx="1066648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8" name="marker_85"/>
          <p:cNvSpPr/>
          <p:nvPr/>
        </p:nvSpPr>
        <p:spPr>
          <a:xfrm>
            <a:off x="548640" y="5166360"/>
            <a:ext cx="91440" cy="91440"/>
          </a:xfrm>
          <a:prstGeom prst="rect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label_86"/>
          <p:cNvSpPr txBox="1"/>
          <p:nvPr/>
        </p:nvSpPr>
        <p:spPr>
          <a:xfrm>
            <a:off x="731520" y="50749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Technology Stack</a:t>
            </a:r>
            <a:endParaRPr lang="en-US" sz="1400" dirty="0"/>
          </a:p>
        </p:txBody>
      </p:sp>
      <p:sp>
        <p:nvSpPr>
          <p:cNvPr id="20" name="hint_87"/>
          <p:cNvSpPr txBox="1"/>
          <p:nvPr/>
        </p:nvSpPr>
        <p:spPr>
          <a:xfrm>
            <a:off x="548640" y="544068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chemeClr val="accent4"/>
                </a:solidFill>
              </a:rPr>
              <a:t>[Remove categories that do not apply]</a:t>
            </a:r>
            <a:endParaRPr lang="en-US" sz="1100" dirty="0"/>
          </a:p>
        </p:txBody>
      </p:sp>
      <p:sp>
        <p:nvSpPr>
          <p:cNvPr id="21" name="stack_FRONTEND_88"/>
          <p:cNvSpPr/>
          <p:nvPr/>
        </p:nvSpPr>
        <p:spPr>
          <a:xfrm>
            <a:off x="2468880" y="5074920"/>
            <a:ext cx="1414729" cy="1005840"/>
          </a:xfrm>
          <a:prstGeom prst="rect">
            <a:avLst/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cat_89"/>
          <p:cNvSpPr txBox="1"/>
          <p:nvPr/>
        </p:nvSpPr>
        <p:spPr>
          <a:xfrm>
            <a:off x="2606040" y="5212080"/>
            <a:ext cx="114040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chemeClr val="accent1"/>
                </a:solidFill>
              </a:rPr>
              <a:t>FRONTEND</a:t>
            </a:r>
            <a:endParaRPr lang="en-US" sz="1000" dirty="0"/>
          </a:p>
        </p:txBody>
      </p:sp>
      <p:sp>
        <p:nvSpPr>
          <p:cNvPr id="23" name="tools_90"/>
          <p:cNvSpPr txBox="1"/>
          <p:nvPr/>
        </p:nvSpPr>
        <p:spPr>
          <a:xfrm>
            <a:off x="2606040" y="5513832"/>
            <a:ext cx="114040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chemeClr val="accent4"/>
                </a:solidFill>
              </a:rPr>
              <a:t>[Add tools]</a:t>
            </a:r>
            <a:endParaRPr lang="en-US" sz="1200" dirty="0"/>
          </a:p>
        </p:txBody>
      </p:sp>
      <p:sp>
        <p:nvSpPr>
          <p:cNvPr id="24" name="stack_BACKEND_91"/>
          <p:cNvSpPr/>
          <p:nvPr/>
        </p:nvSpPr>
        <p:spPr>
          <a:xfrm>
            <a:off x="4020769" y="5074920"/>
            <a:ext cx="1414729" cy="1005840"/>
          </a:xfrm>
          <a:prstGeom prst="rect">
            <a:avLst/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cat_92"/>
          <p:cNvSpPr txBox="1"/>
          <p:nvPr/>
        </p:nvSpPr>
        <p:spPr>
          <a:xfrm>
            <a:off x="4157929" y="5212080"/>
            <a:ext cx="114040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chemeClr val="accent1"/>
                </a:solidFill>
              </a:rPr>
              <a:t>BACKEND</a:t>
            </a:r>
            <a:endParaRPr lang="en-US" sz="1000" dirty="0"/>
          </a:p>
        </p:txBody>
      </p:sp>
      <p:sp>
        <p:nvSpPr>
          <p:cNvPr id="26" name="tools_93"/>
          <p:cNvSpPr txBox="1"/>
          <p:nvPr/>
        </p:nvSpPr>
        <p:spPr>
          <a:xfrm>
            <a:off x="4157929" y="5513832"/>
            <a:ext cx="114040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chemeClr val="accent4"/>
                </a:solidFill>
              </a:rPr>
              <a:t>[Add tools]</a:t>
            </a:r>
            <a:endParaRPr lang="en-US" sz="1200" dirty="0"/>
          </a:p>
        </p:txBody>
      </p:sp>
      <p:sp>
        <p:nvSpPr>
          <p:cNvPr id="27" name="stack_DATABASE_94"/>
          <p:cNvSpPr/>
          <p:nvPr/>
        </p:nvSpPr>
        <p:spPr>
          <a:xfrm>
            <a:off x="5572658" y="5074920"/>
            <a:ext cx="1414729" cy="1005840"/>
          </a:xfrm>
          <a:prstGeom prst="rect">
            <a:avLst/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cat_95"/>
          <p:cNvSpPr txBox="1"/>
          <p:nvPr/>
        </p:nvSpPr>
        <p:spPr>
          <a:xfrm>
            <a:off x="5709818" y="5212080"/>
            <a:ext cx="114040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chemeClr val="accent1"/>
                </a:solidFill>
              </a:rPr>
              <a:t>DATABASE</a:t>
            </a:r>
            <a:endParaRPr lang="en-US" sz="1000" dirty="0"/>
          </a:p>
        </p:txBody>
      </p:sp>
      <p:sp>
        <p:nvSpPr>
          <p:cNvPr id="29" name="tools_96"/>
          <p:cNvSpPr txBox="1"/>
          <p:nvPr/>
        </p:nvSpPr>
        <p:spPr>
          <a:xfrm>
            <a:off x="5709818" y="5513832"/>
            <a:ext cx="114040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chemeClr val="accent4"/>
                </a:solidFill>
              </a:rPr>
              <a:t>[Add tools]</a:t>
            </a:r>
            <a:endParaRPr lang="en-US" sz="1200" dirty="0"/>
          </a:p>
        </p:txBody>
      </p:sp>
      <p:sp>
        <p:nvSpPr>
          <p:cNvPr id="30" name="stack_AI / ML_97"/>
          <p:cNvSpPr/>
          <p:nvPr/>
        </p:nvSpPr>
        <p:spPr>
          <a:xfrm>
            <a:off x="7124548" y="5074920"/>
            <a:ext cx="1414729" cy="1005840"/>
          </a:xfrm>
          <a:prstGeom prst="rect">
            <a:avLst/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cat_98"/>
          <p:cNvSpPr txBox="1"/>
          <p:nvPr/>
        </p:nvSpPr>
        <p:spPr>
          <a:xfrm>
            <a:off x="7261708" y="5212080"/>
            <a:ext cx="114040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chemeClr val="accent1"/>
                </a:solidFill>
              </a:rPr>
              <a:t>AI / ML</a:t>
            </a:r>
            <a:endParaRPr lang="en-US" sz="1000" dirty="0"/>
          </a:p>
        </p:txBody>
      </p:sp>
      <p:sp>
        <p:nvSpPr>
          <p:cNvPr id="32" name="tools_99"/>
          <p:cNvSpPr txBox="1"/>
          <p:nvPr/>
        </p:nvSpPr>
        <p:spPr>
          <a:xfrm>
            <a:off x="7261708" y="5513832"/>
            <a:ext cx="114040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chemeClr val="accent4"/>
                </a:solidFill>
              </a:rPr>
              <a:t>[Add tools]</a:t>
            </a:r>
            <a:endParaRPr lang="en-US" sz="1200" dirty="0"/>
          </a:p>
        </p:txBody>
      </p:sp>
      <p:sp>
        <p:nvSpPr>
          <p:cNvPr id="33" name="stack_CLOUD / INFRA_100"/>
          <p:cNvSpPr/>
          <p:nvPr/>
        </p:nvSpPr>
        <p:spPr>
          <a:xfrm>
            <a:off x="8676437" y="5074920"/>
            <a:ext cx="1414729" cy="1005840"/>
          </a:xfrm>
          <a:prstGeom prst="rect">
            <a:avLst/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cat_101"/>
          <p:cNvSpPr txBox="1"/>
          <p:nvPr/>
        </p:nvSpPr>
        <p:spPr>
          <a:xfrm>
            <a:off x="8813597" y="5212080"/>
            <a:ext cx="114040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chemeClr val="accent1"/>
                </a:solidFill>
              </a:rPr>
              <a:t>CLOUD / INFRA</a:t>
            </a:r>
            <a:endParaRPr lang="en-US" sz="1000" dirty="0"/>
          </a:p>
        </p:txBody>
      </p:sp>
      <p:sp>
        <p:nvSpPr>
          <p:cNvPr id="35" name="tools_102"/>
          <p:cNvSpPr txBox="1"/>
          <p:nvPr/>
        </p:nvSpPr>
        <p:spPr>
          <a:xfrm>
            <a:off x="8813597" y="5513832"/>
            <a:ext cx="114040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chemeClr val="accent4"/>
                </a:solidFill>
              </a:rPr>
              <a:t>[Add tools]</a:t>
            </a:r>
            <a:endParaRPr lang="en-US" sz="1200" dirty="0"/>
          </a:p>
        </p:txBody>
      </p:sp>
      <p:sp>
        <p:nvSpPr>
          <p:cNvPr id="36" name="stack_OTHER TOOLS_103"/>
          <p:cNvSpPr/>
          <p:nvPr/>
        </p:nvSpPr>
        <p:spPr>
          <a:xfrm>
            <a:off x="10228326" y="5074920"/>
            <a:ext cx="1414729" cy="1005840"/>
          </a:xfrm>
          <a:prstGeom prst="rect">
            <a:avLst/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cat_104"/>
          <p:cNvSpPr txBox="1"/>
          <p:nvPr/>
        </p:nvSpPr>
        <p:spPr>
          <a:xfrm>
            <a:off x="10365486" y="5212080"/>
            <a:ext cx="114040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chemeClr val="accent1"/>
                </a:solidFill>
              </a:rPr>
              <a:t>OTHER TOOLS</a:t>
            </a:r>
            <a:endParaRPr lang="en-US" sz="1000" dirty="0"/>
          </a:p>
        </p:txBody>
      </p:sp>
      <p:sp>
        <p:nvSpPr>
          <p:cNvPr id="38" name="tools_105"/>
          <p:cNvSpPr txBox="1"/>
          <p:nvPr/>
        </p:nvSpPr>
        <p:spPr>
          <a:xfrm>
            <a:off x="10365486" y="5513832"/>
            <a:ext cx="114040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chemeClr val="accent4"/>
                </a:solidFill>
              </a:rPr>
              <a:t>[Add tools]</a:t>
            </a:r>
            <a:endParaRPr lang="en-US" sz="1200" dirty="0"/>
          </a:p>
        </p:txBody>
      </p:sp>
      <p:sp>
        <p:nvSpPr>
          <p:cNvPr id="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>
            <a:spLocks noGrp="1"/>
          </p:cNvSpPr>
          <p:nvPr>
            <p:ph type="body" idx="103" hasCustomPrompt="1"/>
          </p:nvPr>
        </p:nvSpPr>
        <p:spPr>
          <a:xfrm>
            <a:off x="54864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chemeClr val="accent2"/>
                </a:solidFill>
              </a:rPr>
              <a:t>06  —  PROTOTYPE</a:t>
            </a:r>
            <a:endParaRPr lang="en-US" sz="1100" dirty="0"/>
          </a:p>
        </p:txBody>
      </p:sp>
      <p:sp>
        <p:nvSpPr>
          <p:cNvPr id="3" name="Text 3"/>
          <p:cNvSpPr>
            <a:spLocks noGrp="1"/>
          </p:cNvSpPr>
          <p:nvPr>
            <p:ph type="title" idx="104" hasCustomPrompt="1"/>
          </p:nvPr>
        </p:nvSpPr>
        <p:spPr>
          <a:xfrm>
            <a:off x="548640" y="640080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Implementation &amp; Prototype</a:t>
            </a:r>
            <a:endParaRPr lang="en-US" sz="3000" dirty="0"/>
          </a:p>
        </p:txBody>
      </p:sp>
      <p:sp>
        <p:nvSpPr>
          <p:cNvPr id="5" name="image_frame_106"/>
          <p:cNvSpPr/>
          <p:nvPr/>
        </p:nvSpPr>
        <p:spPr>
          <a:xfrm>
            <a:off x="548640" y="1508760"/>
            <a:ext cx="6949440" cy="329184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5"/>
            </a:solidFill>
            <a:prstDash val="dash"/>
          </a:ln>
        </p:spPr>
        <p:txBody>
          <a:bodyPr wrap="square" rtlCol="0" anchor="ctr"/>
          <a:lstStyle/>
          <a:p>
            <a:pPr marL="0" indent="0" algn="ctr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accent6"/>
                </a:solidFill>
              </a:rPr>
              <a:t>[Insert prototype screenshot]</a:t>
            </a:r>
            <a:endParaRPr lang="en-US" sz="1200" dirty="0"/>
          </a:p>
          <a:p>
            <a:pPr marL="0" indent="0" algn="ctr">
              <a:spcAft>
                <a:spcPts val="600"/>
              </a:spcAft>
              <a:buNone/>
            </a:pPr>
            <a:r>
              <a:rPr lang="en-US" sz="1200" i="1" dirty="0">
                <a:solidFill>
                  <a:schemeClr val="accent4"/>
                </a:solidFill>
              </a:rPr>
              <a:t>Replace with a screenshot, UI screen or output</a:t>
            </a:r>
            <a:endParaRPr lang="en-US" sz="1200" dirty="0"/>
          </a:p>
        </p:txBody>
      </p:sp>
      <p:sp>
        <p:nvSpPr>
          <p:cNvPr id="6" name="image_frame_107"/>
          <p:cNvSpPr/>
          <p:nvPr/>
        </p:nvSpPr>
        <p:spPr>
          <a:xfrm>
            <a:off x="548640" y="5029200"/>
            <a:ext cx="2164080" cy="105156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5"/>
            </a:solidFill>
            <a:prstDash val="dash"/>
          </a:ln>
        </p:spPr>
        <p:txBody>
          <a:bodyPr wrap="square" rtlCol="0" anchor="ctr"/>
          <a:lstStyle/>
          <a:p>
            <a:pPr marL="0" indent="0" algn="ctr">
              <a:spcAft>
                <a:spcPts val="600"/>
              </a:spcAft>
              <a:buNone/>
            </a:pPr>
            <a:r>
              <a:rPr lang="en-US" sz="1200" i="1" dirty="0">
                <a:solidFill>
                  <a:schemeClr val="accent4"/>
                </a:solidFill>
              </a:rPr>
              <a:t>[Additional screen]</a:t>
            </a:r>
            <a:endParaRPr lang="en-US" sz="1200" dirty="0"/>
          </a:p>
        </p:txBody>
      </p:sp>
      <p:sp>
        <p:nvSpPr>
          <p:cNvPr id="7" name="image_frame_108"/>
          <p:cNvSpPr/>
          <p:nvPr/>
        </p:nvSpPr>
        <p:spPr>
          <a:xfrm>
            <a:off x="2941320" y="5029200"/>
            <a:ext cx="2164080" cy="105156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5"/>
            </a:solidFill>
            <a:prstDash val="dash"/>
          </a:ln>
        </p:spPr>
        <p:txBody>
          <a:bodyPr wrap="square" rtlCol="0" anchor="ctr"/>
          <a:lstStyle/>
          <a:p>
            <a:pPr marL="0" indent="0" algn="ctr">
              <a:spcAft>
                <a:spcPts val="600"/>
              </a:spcAft>
              <a:buNone/>
            </a:pPr>
            <a:r>
              <a:rPr lang="en-US" sz="1200" i="1" dirty="0">
                <a:solidFill>
                  <a:schemeClr val="accent4"/>
                </a:solidFill>
              </a:rPr>
              <a:t>[Workflow stage]</a:t>
            </a:r>
            <a:endParaRPr lang="en-US" sz="1200" dirty="0"/>
          </a:p>
        </p:txBody>
      </p:sp>
      <p:sp>
        <p:nvSpPr>
          <p:cNvPr id="8" name="image_frame_109"/>
          <p:cNvSpPr/>
          <p:nvPr/>
        </p:nvSpPr>
        <p:spPr>
          <a:xfrm>
            <a:off x="5334000" y="5029200"/>
            <a:ext cx="2164080" cy="105156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5"/>
            </a:solidFill>
            <a:prstDash val="dash"/>
          </a:ln>
        </p:spPr>
        <p:txBody>
          <a:bodyPr wrap="square" rtlCol="0" anchor="ctr"/>
          <a:lstStyle/>
          <a:p>
            <a:pPr marL="0" indent="0" algn="ctr">
              <a:spcAft>
                <a:spcPts val="600"/>
              </a:spcAft>
              <a:buNone/>
            </a:pPr>
            <a:r>
              <a:rPr lang="en-US" sz="1200" i="1" dirty="0">
                <a:solidFill>
                  <a:schemeClr val="accent4"/>
                </a:solidFill>
              </a:rPr>
              <a:t>[Key functionality]</a:t>
            </a:r>
            <a:endParaRPr lang="en-US" sz="1200" dirty="0"/>
          </a:p>
        </p:txBody>
      </p:sp>
      <p:sp>
        <p:nvSpPr>
          <p:cNvPr id="9" name="workflow_110"/>
          <p:cNvSpPr/>
          <p:nvPr/>
        </p:nvSpPr>
        <p:spPr>
          <a:xfrm>
            <a:off x="7772400" y="1508760"/>
            <a:ext cx="3870655" cy="329184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marker_111"/>
          <p:cNvSpPr/>
          <p:nvPr/>
        </p:nvSpPr>
        <p:spPr>
          <a:xfrm>
            <a:off x="8046720" y="1874520"/>
            <a:ext cx="91440" cy="91440"/>
          </a:xfrm>
          <a:prstGeom prst="rect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label_112"/>
          <p:cNvSpPr txBox="1"/>
          <p:nvPr/>
        </p:nvSpPr>
        <p:spPr>
          <a:xfrm>
            <a:off x="8229600" y="1783080"/>
            <a:ext cx="31391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Key Workflow</a:t>
            </a:r>
            <a:endParaRPr lang="en-US" sz="1400" dirty="0"/>
          </a:p>
        </p:txBody>
      </p:sp>
      <p:sp>
        <p:nvSpPr>
          <p:cNvPr id="12" name="workflow_line_113"/>
          <p:cNvSpPr/>
          <p:nvPr/>
        </p:nvSpPr>
        <p:spPr>
          <a:xfrm>
            <a:off x="8220456" y="2459736"/>
            <a:ext cx="0" cy="1810512"/>
          </a:xfrm>
          <a:prstGeom prst="line">
            <a:avLst/>
          </a:prstGeom>
          <a:noFill/>
          <a:ln w="1587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tep_num_114"/>
          <p:cNvSpPr/>
          <p:nvPr/>
        </p:nvSpPr>
        <p:spPr>
          <a:xfrm>
            <a:off x="8046720" y="2286000"/>
            <a:ext cx="347472" cy="347472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14" name="step_115"/>
          <p:cNvSpPr txBox="1"/>
          <p:nvPr/>
        </p:nvSpPr>
        <p:spPr>
          <a:xfrm>
            <a:off x="8577072" y="2286000"/>
            <a:ext cx="279166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chemeClr val="accent4"/>
                </a:solidFill>
              </a:rPr>
              <a:t>[Step 1]</a:t>
            </a:r>
            <a:endParaRPr lang="en-US" sz="1400" dirty="0"/>
          </a:p>
        </p:txBody>
      </p:sp>
      <p:sp>
        <p:nvSpPr>
          <p:cNvPr id="15" name="step_num_116"/>
          <p:cNvSpPr/>
          <p:nvPr/>
        </p:nvSpPr>
        <p:spPr>
          <a:xfrm>
            <a:off x="8046720" y="2889504"/>
            <a:ext cx="347472" cy="347472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tep_117"/>
          <p:cNvSpPr txBox="1"/>
          <p:nvPr/>
        </p:nvSpPr>
        <p:spPr>
          <a:xfrm>
            <a:off x="8577072" y="2889504"/>
            <a:ext cx="279166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chemeClr val="accent4"/>
                </a:solidFill>
              </a:rPr>
              <a:t>[Step 2]</a:t>
            </a:r>
            <a:endParaRPr lang="en-US" sz="1400" dirty="0"/>
          </a:p>
        </p:txBody>
      </p:sp>
      <p:sp>
        <p:nvSpPr>
          <p:cNvPr id="17" name="step_num_118"/>
          <p:cNvSpPr/>
          <p:nvPr/>
        </p:nvSpPr>
        <p:spPr>
          <a:xfrm>
            <a:off x="8046720" y="3493008"/>
            <a:ext cx="347472" cy="347472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18" name="step_119"/>
          <p:cNvSpPr txBox="1"/>
          <p:nvPr/>
        </p:nvSpPr>
        <p:spPr>
          <a:xfrm>
            <a:off x="8577072" y="3493008"/>
            <a:ext cx="279166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chemeClr val="accent4"/>
                </a:solidFill>
              </a:rPr>
              <a:t>[Step 3]</a:t>
            </a:r>
            <a:endParaRPr lang="en-US" sz="1400" dirty="0"/>
          </a:p>
        </p:txBody>
      </p:sp>
      <p:sp>
        <p:nvSpPr>
          <p:cNvPr id="19" name="step_num_120"/>
          <p:cNvSpPr/>
          <p:nvPr/>
        </p:nvSpPr>
        <p:spPr>
          <a:xfrm>
            <a:off x="8046720" y="4096512"/>
            <a:ext cx="347472" cy="347472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4</a:t>
            </a:r>
            <a:endParaRPr lang="en-US" sz="1200" dirty="0"/>
          </a:p>
        </p:txBody>
      </p:sp>
      <p:sp>
        <p:nvSpPr>
          <p:cNvPr id="20" name="step_121"/>
          <p:cNvSpPr txBox="1"/>
          <p:nvPr/>
        </p:nvSpPr>
        <p:spPr>
          <a:xfrm>
            <a:off x="8577072" y="4096512"/>
            <a:ext cx="279166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chemeClr val="accent4"/>
                </a:solidFill>
              </a:rPr>
              <a:t>[Step 4]</a:t>
            </a:r>
            <a:endParaRPr lang="en-US" sz="1400" dirty="0"/>
          </a:p>
        </p:txBody>
      </p:sp>
      <p:sp>
        <p:nvSpPr>
          <p:cNvPr id="21" name="card_Current Implementation Status_122"/>
          <p:cNvSpPr/>
          <p:nvPr/>
        </p:nvSpPr>
        <p:spPr>
          <a:xfrm>
            <a:off x="7772400" y="5029200"/>
            <a:ext cx="3870655" cy="1051560"/>
          </a:xfrm>
          <a:prstGeom prst="rect">
            <a:avLst/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marker_123"/>
          <p:cNvSpPr/>
          <p:nvPr/>
        </p:nvSpPr>
        <p:spPr>
          <a:xfrm>
            <a:off x="7973568" y="5321808"/>
            <a:ext cx="91440" cy="91440"/>
          </a:xfrm>
          <a:prstGeom prst="rect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label_124"/>
          <p:cNvSpPr txBox="1"/>
          <p:nvPr/>
        </p:nvSpPr>
        <p:spPr>
          <a:xfrm>
            <a:off x="8156448" y="5230368"/>
            <a:ext cx="32854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Current Implementation Status</a:t>
            </a:r>
            <a:endParaRPr lang="en-US" sz="1300" dirty="0"/>
          </a:p>
        </p:txBody>
      </p:sp>
      <p:sp>
        <p:nvSpPr>
          <p:cNvPr id="24" name="content_125"/>
          <p:cNvSpPr txBox="1"/>
          <p:nvPr/>
        </p:nvSpPr>
        <p:spPr>
          <a:xfrm>
            <a:off x="7973568" y="5641848"/>
            <a:ext cx="346831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300" i="1" dirty="0">
                <a:solidFill>
                  <a:schemeClr val="accent4"/>
                </a:solidFill>
              </a:rPr>
              <a:t>[Describe implemented functionality]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>
            <a:spLocks noGrp="1"/>
          </p:cNvSpPr>
          <p:nvPr>
            <p:ph type="body" idx="103" hasCustomPrompt="1"/>
          </p:nvPr>
        </p:nvSpPr>
        <p:spPr>
          <a:xfrm>
            <a:off x="54864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chemeClr val="accent2"/>
                </a:solidFill>
              </a:rPr>
              <a:t>07  —  IMPACT</a:t>
            </a:r>
            <a:endParaRPr lang="en-US" sz="1100" dirty="0"/>
          </a:p>
        </p:txBody>
      </p:sp>
      <p:sp>
        <p:nvSpPr>
          <p:cNvPr id="3" name="Text 3"/>
          <p:cNvSpPr>
            <a:spLocks noGrp="1"/>
          </p:cNvSpPr>
          <p:nvPr>
            <p:ph type="title" idx="104" hasCustomPrompt="1"/>
          </p:nvPr>
        </p:nvSpPr>
        <p:spPr>
          <a:xfrm>
            <a:off x="548640" y="640080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Feasibility &amp; Impact</a:t>
            </a:r>
            <a:endParaRPr lang="en-US" sz="3000" dirty="0"/>
          </a:p>
        </p:txBody>
      </p:sp>
      <p:sp>
        <p:nvSpPr>
          <p:cNvPr id="5" name="card_Feasibility_126"/>
          <p:cNvSpPr/>
          <p:nvPr/>
        </p:nvSpPr>
        <p:spPr>
          <a:xfrm>
            <a:off x="548640" y="1508760"/>
            <a:ext cx="3545738" cy="2651760"/>
          </a:xfrm>
          <a:prstGeom prst="rect">
            <a:avLst/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marker_127"/>
          <p:cNvSpPr/>
          <p:nvPr/>
        </p:nvSpPr>
        <p:spPr>
          <a:xfrm>
            <a:off x="804672" y="1856232"/>
            <a:ext cx="91440" cy="91440"/>
          </a:xfrm>
          <a:prstGeom prst="rect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label_128"/>
          <p:cNvSpPr txBox="1"/>
          <p:nvPr/>
        </p:nvSpPr>
        <p:spPr>
          <a:xfrm>
            <a:off x="987552" y="1764792"/>
            <a:ext cx="28507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Feasibility</a:t>
            </a:r>
            <a:endParaRPr lang="en-US" sz="1400" dirty="0"/>
          </a:p>
        </p:txBody>
      </p:sp>
      <p:sp>
        <p:nvSpPr>
          <p:cNvPr id="8" name="content_129"/>
          <p:cNvSpPr txBox="1"/>
          <p:nvPr/>
        </p:nvSpPr>
        <p:spPr>
          <a:xfrm>
            <a:off x="804672" y="2176272"/>
            <a:ext cx="3033674" cy="1728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i="1" dirty="0">
                <a:solidFill>
                  <a:schemeClr val="accent4"/>
                </a:solidFill>
              </a:rPr>
              <a:t>[Technical feasibility, constraints and dependencies]</a:t>
            </a:r>
            <a:endParaRPr lang="en-US" sz="1400" dirty="0"/>
          </a:p>
        </p:txBody>
      </p:sp>
      <p:sp>
        <p:nvSpPr>
          <p:cNvPr id="9" name="card_Validation_130"/>
          <p:cNvSpPr/>
          <p:nvPr/>
        </p:nvSpPr>
        <p:spPr>
          <a:xfrm>
            <a:off x="4322978" y="1508760"/>
            <a:ext cx="3545738" cy="2651760"/>
          </a:xfrm>
          <a:prstGeom prst="rect">
            <a:avLst/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marker_131"/>
          <p:cNvSpPr/>
          <p:nvPr/>
        </p:nvSpPr>
        <p:spPr>
          <a:xfrm>
            <a:off x="4579010" y="1856232"/>
            <a:ext cx="91440" cy="91440"/>
          </a:xfrm>
          <a:prstGeom prst="rect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label_132"/>
          <p:cNvSpPr txBox="1"/>
          <p:nvPr/>
        </p:nvSpPr>
        <p:spPr>
          <a:xfrm>
            <a:off x="4761890" y="1764792"/>
            <a:ext cx="16620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Validation</a:t>
            </a:r>
            <a:endParaRPr lang="en-US" sz="1400" dirty="0"/>
          </a:p>
        </p:txBody>
      </p:sp>
      <p:sp>
        <p:nvSpPr>
          <p:cNvPr id="12" name="tag_133"/>
          <p:cNvSpPr txBox="1"/>
          <p:nvPr/>
        </p:nvSpPr>
        <p:spPr>
          <a:xfrm>
            <a:off x="6423965" y="1783080"/>
            <a:ext cx="1188720" cy="237744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accent1"/>
                </a:solidFill>
              </a:rPr>
              <a:t>DEMONSTRATED</a:t>
            </a:r>
            <a:endParaRPr lang="en-US" sz="1000" dirty="0"/>
          </a:p>
        </p:txBody>
      </p:sp>
      <p:sp>
        <p:nvSpPr>
          <p:cNvPr id="13" name="content_134"/>
          <p:cNvSpPr txBox="1"/>
          <p:nvPr/>
        </p:nvSpPr>
        <p:spPr>
          <a:xfrm>
            <a:off x="4579010" y="2176272"/>
            <a:ext cx="3033674" cy="1728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i="1" dirty="0">
                <a:solidFill>
                  <a:schemeClr val="accent4"/>
                </a:solidFill>
              </a:rPr>
              <a:t>[Testing methods, experiments, user feedback or evidence]</a:t>
            </a:r>
            <a:endParaRPr lang="en-US" sz="1400" dirty="0"/>
          </a:p>
        </p:txBody>
      </p:sp>
      <p:sp>
        <p:nvSpPr>
          <p:cNvPr id="14" name="card_Potential Impact_135"/>
          <p:cNvSpPr/>
          <p:nvPr/>
        </p:nvSpPr>
        <p:spPr>
          <a:xfrm>
            <a:off x="8097317" y="1508760"/>
            <a:ext cx="3545738" cy="2651760"/>
          </a:xfrm>
          <a:prstGeom prst="rect">
            <a:avLst/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marker_136"/>
          <p:cNvSpPr/>
          <p:nvPr/>
        </p:nvSpPr>
        <p:spPr>
          <a:xfrm>
            <a:off x="8353349" y="1856232"/>
            <a:ext cx="91440" cy="91440"/>
          </a:xfrm>
          <a:prstGeom prst="rect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label_137"/>
          <p:cNvSpPr txBox="1"/>
          <p:nvPr/>
        </p:nvSpPr>
        <p:spPr>
          <a:xfrm>
            <a:off x="8536229" y="1764792"/>
            <a:ext cx="16620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Potential Impact</a:t>
            </a:r>
            <a:endParaRPr lang="en-US" sz="1400" dirty="0"/>
          </a:p>
        </p:txBody>
      </p:sp>
      <p:sp>
        <p:nvSpPr>
          <p:cNvPr id="17" name="tag_138"/>
          <p:cNvSpPr txBox="1"/>
          <p:nvPr/>
        </p:nvSpPr>
        <p:spPr>
          <a:xfrm>
            <a:off x="10198303" y="1783080"/>
            <a:ext cx="1188720" cy="237744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accent2"/>
                </a:solidFill>
              </a:rPr>
              <a:t>PROJECTED</a:t>
            </a:r>
            <a:endParaRPr lang="en-US" sz="1000" dirty="0"/>
          </a:p>
        </p:txBody>
      </p:sp>
      <p:sp>
        <p:nvSpPr>
          <p:cNvPr id="18" name="content_139"/>
          <p:cNvSpPr txBox="1"/>
          <p:nvPr/>
        </p:nvSpPr>
        <p:spPr>
          <a:xfrm>
            <a:off x="8353349" y="2176272"/>
            <a:ext cx="3033674" cy="1728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i="1" dirty="0">
                <a:solidFill>
                  <a:schemeClr val="accent4"/>
                </a:solidFill>
              </a:rPr>
              <a:t>[Expected benefits, beneficiaries and measurable outcomes]</a:t>
            </a:r>
            <a:endParaRPr lang="en-US" sz="1400" dirty="0"/>
          </a:p>
        </p:txBody>
      </p:sp>
      <p:sp>
        <p:nvSpPr>
          <p:cNvPr id="19" name="metrics_panel_140"/>
          <p:cNvSpPr/>
          <p:nvPr/>
        </p:nvSpPr>
        <p:spPr>
          <a:xfrm>
            <a:off x="548640" y="4434840"/>
            <a:ext cx="11094415" cy="1645920"/>
          </a:xfrm>
          <a:prstGeom prst="rect">
            <a:avLst/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marker_141"/>
          <p:cNvSpPr/>
          <p:nvPr/>
        </p:nvSpPr>
        <p:spPr>
          <a:xfrm>
            <a:off x="804672" y="4782312"/>
            <a:ext cx="91440" cy="91440"/>
          </a:xfrm>
          <a:prstGeom prst="rect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label_142"/>
          <p:cNvSpPr txBox="1"/>
          <p:nvPr/>
        </p:nvSpPr>
        <p:spPr>
          <a:xfrm>
            <a:off x="987552" y="469087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Key Metrics</a:t>
            </a:r>
            <a:endParaRPr lang="en-US" sz="1400" dirty="0"/>
          </a:p>
        </p:txBody>
      </p:sp>
      <p:sp>
        <p:nvSpPr>
          <p:cNvPr id="22" name="hint_143"/>
          <p:cNvSpPr txBox="1"/>
          <p:nvPr/>
        </p:nvSpPr>
        <p:spPr>
          <a:xfrm>
            <a:off x="804672" y="5093208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chemeClr val="accent4"/>
                </a:solidFill>
              </a:rPr>
              <a:t>[Mark each metric as measured or projected]</a:t>
            </a:r>
            <a:endParaRPr lang="en-US" sz="1200" dirty="0"/>
          </a:p>
        </p:txBody>
      </p:sp>
      <p:sp>
        <p:nvSpPr>
          <p:cNvPr id="23" name="kpi_144"/>
          <p:cNvSpPr/>
          <p:nvPr/>
        </p:nvSpPr>
        <p:spPr>
          <a:xfrm>
            <a:off x="3246120" y="4636008"/>
            <a:ext cx="2570378" cy="1243584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kpi_name_145"/>
          <p:cNvSpPr txBox="1"/>
          <p:nvPr/>
        </p:nvSpPr>
        <p:spPr>
          <a:xfrm>
            <a:off x="3447288" y="4773168"/>
            <a:ext cx="216804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2"/>
                </a:solidFill>
              </a:rPr>
              <a:t>[Metric 1]</a:t>
            </a:r>
            <a:endParaRPr lang="en-US" sz="1200" dirty="0"/>
          </a:p>
        </p:txBody>
      </p:sp>
      <p:sp>
        <p:nvSpPr>
          <p:cNvPr id="25" name="kpi_value_146"/>
          <p:cNvSpPr txBox="1"/>
          <p:nvPr/>
        </p:nvSpPr>
        <p:spPr>
          <a:xfrm>
            <a:off x="3447288" y="5047488"/>
            <a:ext cx="216804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[Value]</a:t>
            </a:r>
            <a:r>
              <a:rPr lang="en-US" sz="1400" dirty="0">
                <a:solidFill>
                  <a:schemeClr val="accent4"/>
                </a:solidFill>
              </a:rPr>
              <a:t>  [Unit]</a:t>
            </a:r>
            <a:endParaRPr lang="en-US" sz="2600" dirty="0"/>
          </a:p>
        </p:txBody>
      </p:sp>
      <p:sp>
        <p:nvSpPr>
          <p:cNvPr id="26" name="kpi_type_147"/>
          <p:cNvSpPr txBox="1"/>
          <p:nvPr/>
        </p:nvSpPr>
        <p:spPr>
          <a:xfrm>
            <a:off x="3447288" y="5550408"/>
            <a:ext cx="216804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Measured / Projected</a:t>
            </a:r>
            <a:endParaRPr lang="en-US" sz="1000" dirty="0"/>
          </a:p>
        </p:txBody>
      </p:sp>
      <p:sp>
        <p:nvSpPr>
          <p:cNvPr id="27" name="kpi_148"/>
          <p:cNvSpPr/>
          <p:nvPr/>
        </p:nvSpPr>
        <p:spPr>
          <a:xfrm>
            <a:off x="6045098" y="4636008"/>
            <a:ext cx="2570378" cy="1243584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kpi_name_149"/>
          <p:cNvSpPr txBox="1"/>
          <p:nvPr/>
        </p:nvSpPr>
        <p:spPr>
          <a:xfrm>
            <a:off x="6246266" y="4773168"/>
            <a:ext cx="216804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2"/>
                </a:solidFill>
              </a:rPr>
              <a:t>[Metric 2]</a:t>
            </a:r>
            <a:endParaRPr lang="en-US" sz="1200" dirty="0"/>
          </a:p>
        </p:txBody>
      </p:sp>
      <p:sp>
        <p:nvSpPr>
          <p:cNvPr id="29" name="kpi_value_150"/>
          <p:cNvSpPr txBox="1"/>
          <p:nvPr/>
        </p:nvSpPr>
        <p:spPr>
          <a:xfrm>
            <a:off x="6246266" y="5047488"/>
            <a:ext cx="216804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[Value]</a:t>
            </a:r>
            <a:r>
              <a:rPr lang="en-US" sz="1400" dirty="0">
                <a:solidFill>
                  <a:schemeClr val="accent4"/>
                </a:solidFill>
              </a:rPr>
              <a:t>  [Unit]</a:t>
            </a:r>
            <a:endParaRPr lang="en-US" sz="2600" dirty="0"/>
          </a:p>
        </p:txBody>
      </p:sp>
      <p:sp>
        <p:nvSpPr>
          <p:cNvPr id="30" name="kpi_type_151"/>
          <p:cNvSpPr txBox="1"/>
          <p:nvPr/>
        </p:nvSpPr>
        <p:spPr>
          <a:xfrm>
            <a:off x="6246266" y="5550408"/>
            <a:ext cx="216804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Measured / Projected</a:t>
            </a:r>
            <a:endParaRPr lang="en-US" sz="1000" dirty="0"/>
          </a:p>
        </p:txBody>
      </p:sp>
      <p:sp>
        <p:nvSpPr>
          <p:cNvPr id="31" name="kpi_152"/>
          <p:cNvSpPr/>
          <p:nvPr/>
        </p:nvSpPr>
        <p:spPr>
          <a:xfrm>
            <a:off x="8844077" y="4636008"/>
            <a:ext cx="2570378" cy="1243584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kpi_name_153"/>
          <p:cNvSpPr txBox="1"/>
          <p:nvPr/>
        </p:nvSpPr>
        <p:spPr>
          <a:xfrm>
            <a:off x="9045245" y="4773168"/>
            <a:ext cx="216804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2"/>
                </a:solidFill>
              </a:rPr>
              <a:t>[Metric 3]</a:t>
            </a:r>
            <a:endParaRPr lang="en-US" sz="1200" dirty="0"/>
          </a:p>
        </p:txBody>
      </p:sp>
      <p:sp>
        <p:nvSpPr>
          <p:cNvPr id="33" name="kpi_value_154"/>
          <p:cNvSpPr txBox="1"/>
          <p:nvPr/>
        </p:nvSpPr>
        <p:spPr>
          <a:xfrm>
            <a:off x="9045245" y="5047488"/>
            <a:ext cx="216804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[Value]</a:t>
            </a:r>
            <a:r>
              <a:rPr lang="en-US" sz="1400" dirty="0">
                <a:solidFill>
                  <a:schemeClr val="accent4"/>
                </a:solidFill>
              </a:rPr>
              <a:t>  [Unit]</a:t>
            </a:r>
            <a:endParaRPr lang="en-US" sz="2600" dirty="0"/>
          </a:p>
        </p:txBody>
      </p:sp>
      <p:sp>
        <p:nvSpPr>
          <p:cNvPr id="34" name="kpi_type_155"/>
          <p:cNvSpPr txBox="1"/>
          <p:nvPr/>
        </p:nvSpPr>
        <p:spPr>
          <a:xfrm>
            <a:off x="9045245" y="5550408"/>
            <a:ext cx="216804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Measured / Projected</a:t>
            </a:r>
            <a:endParaRPr lang="en-US" sz="1000" dirty="0"/>
          </a:p>
        </p:txBody>
      </p:sp>
      <p:sp>
        <p:nvSpPr>
          <p:cNvPr id="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>
            <a:spLocks noGrp="1"/>
          </p:cNvSpPr>
          <p:nvPr>
            <p:ph type="body" idx="103" hasCustomPrompt="1"/>
          </p:nvPr>
        </p:nvSpPr>
        <p:spPr>
          <a:xfrm>
            <a:off x="54864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chemeClr val="accent2"/>
                </a:solidFill>
              </a:rPr>
              <a:t>08  —  ROADMAP</a:t>
            </a:r>
            <a:endParaRPr lang="en-US" sz="1100" dirty="0"/>
          </a:p>
        </p:txBody>
      </p:sp>
      <p:sp>
        <p:nvSpPr>
          <p:cNvPr id="3" name="Text 3"/>
          <p:cNvSpPr>
            <a:spLocks noGrp="1"/>
          </p:cNvSpPr>
          <p:nvPr>
            <p:ph type="title" idx="104" hasCustomPrompt="1"/>
          </p:nvPr>
        </p:nvSpPr>
        <p:spPr>
          <a:xfrm>
            <a:off x="548640" y="640080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Roadmap &amp; Scalability</a:t>
            </a:r>
            <a:endParaRPr lang="en-US" sz="3000" dirty="0"/>
          </a:p>
        </p:txBody>
      </p:sp>
      <p:sp>
        <p:nvSpPr>
          <p:cNvPr id="5" name="roadmap_band_156"/>
          <p:cNvSpPr/>
          <p:nvPr/>
        </p:nvSpPr>
        <p:spPr>
          <a:xfrm>
            <a:off x="548640" y="1508760"/>
            <a:ext cx="11094415" cy="1783080"/>
          </a:xfrm>
          <a:prstGeom prst="rect">
            <a:avLst/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roadmap_connector_157"/>
          <p:cNvSpPr/>
          <p:nvPr/>
        </p:nvSpPr>
        <p:spPr>
          <a:xfrm>
            <a:off x="2659837" y="1965960"/>
            <a:ext cx="3097682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7" name="roadmap_connector_158"/>
          <p:cNvSpPr/>
          <p:nvPr/>
        </p:nvSpPr>
        <p:spPr>
          <a:xfrm>
            <a:off x="6434176" y="1965960"/>
            <a:ext cx="3097682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8" name="stage_num_159"/>
          <p:cNvSpPr/>
          <p:nvPr/>
        </p:nvSpPr>
        <p:spPr>
          <a:xfrm>
            <a:off x="2092909" y="173736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stage_160"/>
          <p:cNvSpPr txBox="1"/>
          <p:nvPr/>
        </p:nvSpPr>
        <p:spPr>
          <a:xfrm>
            <a:off x="731520" y="2313432"/>
            <a:ext cx="31799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[Stage 1]</a:t>
            </a:r>
            <a:endParaRPr lang="en-US" sz="1400" dirty="0"/>
          </a:p>
        </p:txBody>
      </p:sp>
      <p:sp>
        <p:nvSpPr>
          <p:cNvPr id="10" name="stage_desc_161"/>
          <p:cNvSpPr txBox="1"/>
          <p:nvPr/>
        </p:nvSpPr>
        <p:spPr>
          <a:xfrm>
            <a:off x="731520" y="2624328"/>
            <a:ext cx="31799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chemeClr val="accent4"/>
                </a:solidFill>
              </a:rPr>
              <a:t>[Add milestone or description]</a:t>
            </a:r>
            <a:endParaRPr lang="en-US" sz="1200" dirty="0"/>
          </a:p>
        </p:txBody>
      </p:sp>
      <p:sp>
        <p:nvSpPr>
          <p:cNvPr id="11" name="stage_num_162"/>
          <p:cNvSpPr/>
          <p:nvPr/>
        </p:nvSpPr>
        <p:spPr>
          <a:xfrm>
            <a:off x="5867248" y="1737360"/>
            <a:ext cx="457200" cy="457200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stage_163"/>
          <p:cNvSpPr txBox="1"/>
          <p:nvPr/>
        </p:nvSpPr>
        <p:spPr>
          <a:xfrm>
            <a:off x="4505858" y="2313432"/>
            <a:ext cx="31799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[Stage 2]</a:t>
            </a:r>
            <a:endParaRPr lang="en-US" sz="1400" dirty="0"/>
          </a:p>
        </p:txBody>
      </p:sp>
      <p:sp>
        <p:nvSpPr>
          <p:cNvPr id="13" name="stage_desc_164"/>
          <p:cNvSpPr txBox="1"/>
          <p:nvPr/>
        </p:nvSpPr>
        <p:spPr>
          <a:xfrm>
            <a:off x="4505858" y="2624328"/>
            <a:ext cx="31799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chemeClr val="accent4"/>
                </a:solidFill>
              </a:rPr>
              <a:t>[Add milestone or description]</a:t>
            </a:r>
            <a:endParaRPr lang="en-US" sz="1200" dirty="0"/>
          </a:p>
        </p:txBody>
      </p:sp>
      <p:sp>
        <p:nvSpPr>
          <p:cNvPr id="14" name="stage_num_165"/>
          <p:cNvSpPr/>
          <p:nvPr/>
        </p:nvSpPr>
        <p:spPr>
          <a:xfrm>
            <a:off x="9641586" y="1737360"/>
            <a:ext cx="457200" cy="457200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stage_166"/>
          <p:cNvSpPr txBox="1"/>
          <p:nvPr/>
        </p:nvSpPr>
        <p:spPr>
          <a:xfrm>
            <a:off x="8280197" y="2313432"/>
            <a:ext cx="31799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[Stage 3]</a:t>
            </a:r>
            <a:endParaRPr lang="en-US" sz="1400" dirty="0"/>
          </a:p>
        </p:txBody>
      </p:sp>
      <p:sp>
        <p:nvSpPr>
          <p:cNvPr id="16" name="stage_desc_167"/>
          <p:cNvSpPr txBox="1"/>
          <p:nvPr/>
        </p:nvSpPr>
        <p:spPr>
          <a:xfrm>
            <a:off x="8280197" y="2624328"/>
            <a:ext cx="31799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chemeClr val="accent4"/>
                </a:solidFill>
              </a:rPr>
              <a:t>[Add milestone or description]</a:t>
            </a:r>
            <a:endParaRPr lang="en-US" sz="1200" dirty="0"/>
          </a:p>
        </p:txBody>
      </p:sp>
      <p:sp>
        <p:nvSpPr>
          <p:cNvPr id="17" name="card_Immediate Next Steps_168"/>
          <p:cNvSpPr/>
          <p:nvPr/>
        </p:nvSpPr>
        <p:spPr>
          <a:xfrm>
            <a:off x="548640" y="3566160"/>
            <a:ext cx="3545738" cy="251460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marker_169"/>
          <p:cNvSpPr/>
          <p:nvPr/>
        </p:nvSpPr>
        <p:spPr>
          <a:xfrm>
            <a:off x="804672" y="3913632"/>
            <a:ext cx="91440" cy="91440"/>
          </a:xfrm>
          <a:prstGeom prst="rect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label_170"/>
          <p:cNvSpPr txBox="1"/>
          <p:nvPr/>
        </p:nvSpPr>
        <p:spPr>
          <a:xfrm>
            <a:off x="987552" y="3822192"/>
            <a:ext cx="28507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Immediate Next Steps</a:t>
            </a:r>
            <a:endParaRPr lang="en-US" sz="1400" dirty="0"/>
          </a:p>
        </p:txBody>
      </p:sp>
      <p:sp>
        <p:nvSpPr>
          <p:cNvPr id="20" name="content_171"/>
          <p:cNvSpPr txBox="1"/>
          <p:nvPr/>
        </p:nvSpPr>
        <p:spPr>
          <a:xfrm>
            <a:off x="804672" y="4233672"/>
            <a:ext cx="3033674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i="1" dirty="0">
                <a:solidFill>
                  <a:schemeClr val="accent4"/>
                </a:solidFill>
              </a:rPr>
              <a:t>[Most important actions to improve or complete the solution]</a:t>
            </a:r>
            <a:endParaRPr lang="en-US" sz="1400" dirty="0"/>
          </a:p>
        </p:txBody>
      </p:sp>
      <p:sp>
        <p:nvSpPr>
          <p:cNvPr id="21" name="card_Scalability_172"/>
          <p:cNvSpPr/>
          <p:nvPr/>
        </p:nvSpPr>
        <p:spPr>
          <a:xfrm>
            <a:off x="4322978" y="3566160"/>
            <a:ext cx="3545738" cy="251460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marker_173"/>
          <p:cNvSpPr/>
          <p:nvPr/>
        </p:nvSpPr>
        <p:spPr>
          <a:xfrm>
            <a:off x="4579010" y="3913632"/>
            <a:ext cx="91440" cy="91440"/>
          </a:xfrm>
          <a:prstGeom prst="rect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label_174"/>
          <p:cNvSpPr txBox="1"/>
          <p:nvPr/>
        </p:nvSpPr>
        <p:spPr>
          <a:xfrm>
            <a:off x="4761890" y="3822192"/>
            <a:ext cx="28507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Scalability</a:t>
            </a:r>
            <a:endParaRPr lang="en-US" sz="1400" dirty="0"/>
          </a:p>
        </p:txBody>
      </p:sp>
      <p:sp>
        <p:nvSpPr>
          <p:cNvPr id="24" name="content_175"/>
          <p:cNvSpPr txBox="1"/>
          <p:nvPr/>
        </p:nvSpPr>
        <p:spPr>
          <a:xfrm>
            <a:off x="4579010" y="4233672"/>
            <a:ext cx="3033674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i="1" dirty="0">
                <a:solidFill>
                  <a:schemeClr val="accent4"/>
                </a:solidFill>
              </a:rPr>
              <a:t>[How the solution supports more users, data, use cases or deployments]</a:t>
            </a:r>
            <a:endParaRPr lang="en-US" sz="1400" dirty="0"/>
          </a:p>
        </p:txBody>
      </p:sp>
      <p:sp>
        <p:nvSpPr>
          <p:cNvPr id="25" name="card_Future Development_176"/>
          <p:cNvSpPr/>
          <p:nvPr/>
        </p:nvSpPr>
        <p:spPr>
          <a:xfrm>
            <a:off x="8097317" y="3566160"/>
            <a:ext cx="3545738" cy="251460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marker_177"/>
          <p:cNvSpPr/>
          <p:nvPr/>
        </p:nvSpPr>
        <p:spPr>
          <a:xfrm>
            <a:off x="8353349" y="3913632"/>
            <a:ext cx="91440" cy="91440"/>
          </a:xfrm>
          <a:prstGeom prst="rect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label_178"/>
          <p:cNvSpPr txBox="1"/>
          <p:nvPr/>
        </p:nvSpPr>
        <p:spPr>
          <a:xfrm>
            <a:off x="8536229" y="3822192"/>
            <a:ext cx="28507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Future Development</a:t>
            </a:r>
            <a:endParaRPr lang="en-US" sz="1400" dirty="0"/>
          </a:p>
        </p:txBody>
      </p:sp>
      <p:sp>
        <p:nvSpPr>
          <p:cNvPr id="28" name="content_179"/>
          <p:cNvSpPr txBox="1"/>
          <p:nvPr/>
        </p:nvSpPr>
        <p:spPr>
          <a:xfrm>
            <a:off x="8353349" y="4233672"/>
            <a:ext cx="3033674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i="1" dirty="0">
                <a:solidFill>
                  <a:schemeClr val="accent4"/>
                </a:solidFill>
              </a:rPr>
              <a:t>[Additional capabilities, integrations or long-term opportunities]</a:t>
            </a:r>
            <a:endParaRPr lang="en-US" sz="1400" dirty="0"/>
          </a:p>
        </p:txBody>
      </p:sp>
      <p:sp>
        <p:nvSpPr>
          <p:cNvPr id="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PULSE 26">
  <a:themeElements>
    <a:clrScheme name="IMPULSE 26">
      <a:dk1>
        <a:srgbClr val="333333"/>
      </a:dk1>
      <a:lt1>
        <a:srgbClr val="FFFFFF"/>
      </a:lt1>
      <a:dk2>
        <a:srgbClr val="232F3E"/>
      </a:dk2>
      <a:lt2>
        <a:srgbClr val="F3F5F7"/>
      </a:lt2>
      <a:accent1>
        <a:srgbClr val="146EB4"/>
      </a:accent1>
      <a:accent2>
        <a:srgbClr val="FF9900"/>
      </a:accent2>
      <a:accent3>
        <a:srgbClr val="232F3E"/>
      </a:accent3>
      <a:accent4>
        <a:srgbClr val="6B7785"/>
      </a:accent4>
      <a:accent5>
        <a:srgbClr val="D5DBE1"/>
      </a:accent5>
      <a:accent6>
        <a:srgbClr val="5A6B7D"/>
      </a:accent6>
      <a:hlink>
        <a:srgbClr val="146EB4"/>
      </a:hlink>
      <a:folHlink>
        <a:srgbClr val="5A6B7D"/>
      </a:folHlink>
    </a:clrScheme>
    <a:fontScheme name="IMPULSE 26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689</Words>
  <Application>Microsoft Office PowerPoint</Application>
  <PresentationFormat>Widescreen</PresentationFormat>
  <Paragraphs>169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0" baseType="lpstr">
      <vt:lpstr>Arial</vt:lpstr>
      <vt:lpstr>IMPULSE 26</vt:lpstr>
      <vt:lpstr>PowerPoint Presentation</vt:lpstr>
      <vt:lpstr>Team Introduction</vt:lpstr>
      <vt:lpstr>Solution Overview</vt:lpstr>
      <vt:lpstr>Problem Validation &amp; Approach</vt:lpstr>
      <vt:lpstr>Technical Architecture</vt:lpstr>
      <vt:lpstr>Implementation &amp; Prototype</vt:lpstr>
      <vt:lpstr>Feasibility &amp; Impact</vt:lpstr>
      <vt:lpstr>Roadmap &amp; Scalability</vt:lpstr>
    </vt:vector>
  </TitlesOfParts>
  <Company>AWS Student Builder Group, REVA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IMPULSE '26 Pitch Deck Template</dc:title>
  <dc:subject>PptxGenJS Presentation</dc:subject>
  <dc:creator>AWS Student Builder Group, REVA University</dc:creator>
  <cp:lastModifiedBy>BINDU SINGH</cp:lastModifiedBy>
  <cp:revision>3</cp:revision>
  <dcterms:created xsi:type="dcterms:W3CDTF">2026-10-23T04:25:31Z</dcterms:created>
  <dcterms:modified xsi:type="dcterms:W3CDTF">2026-10-23T09:53:18Z</dcterms:modified>
</cp:coreProperties>
</file>